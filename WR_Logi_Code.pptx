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6" r:id="rId5"/>
    <p:sldId id="266" r:id="rId6"/>
    <p:sldId id="258" r:id="rId7"/>
    <p:sldId id="261" r:id="rId8"/>
    <p:sldId id="262" r:id="rId9"/>
    <p:sldId id="260" r:id="rId10"/>
    <p:sldId id="259"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1FBE"/>
    <a:srgbClr val="1012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38A83-6988-40EC-9D2D-166EC1DE5722}" v="153" dt="2026-02-27T21:59:20.812"/>
    <p1510:client id="{D00EF499-9272-8A49-9477-BEF2BB35EA6F}" v="1" dt="2026-02-27T22:05:13.908"/>
    <p1510:client id="{F03704A0-9EEA-415A-BFA5-A2175FEE124D}" v="134" dt="2026-02-27T22:14:09.3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2C4D8-ED18-4261-8DB3-18A64ED1781F}"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06BD5-A897-408C-BD49-C9C0A719CE7D}" type="slidenum">
              <a:rPr lang="en-US" smtClean="0"/>
              <a:t>‹#›</a:t>
            </a:fld>
            <a:endParaRPr lang="en-US"/>
          </a:p>
        </p:txBody>
      </p:sp>
    </p:spTree>
    <p:extLst>
      <p:ext uri="{BB962C8B-B14F-4D97-AF65-F5344CB8AC3E}">
        <p14:creationId xmlns:p14="http://schemas.microsoft.com/office/powerpoint/2010/main" val="2205331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B006BD5-A897-408C-BD49-C9C0A719CE7D}" type="slidenum">
              <a:rPr lang="en-US" smtClean="0"/>
              <a:t>3</a:t>
            </a:fld>
            <a:endParaRPr lang="en-US"/>
          </a:p>
        </p:txBody>
      </p:sp>
    </p:spTree>
    <p:extLst>
      <p:ext uri="{BB962C8B-B14F-4D97-AF65-F5344CB8AC3E}">
        <p14:creationId xmlns:p14="http://schemas.microsoft.com/office/powerpoint/2010/main" val="2713241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B006BD5-A897-408C-BD49-C9C0A719CE7D}" type="slidenum">
              <a:rPr lang="en-US" smtClean="0"/>
              <a:t>4</a:t>
            </a:fld>
            <a:endParaRPr lang="en-US"/>
          </a:p>
        </p:txBody>
      </p:sp>
    </p:spTree>
    <p:extLst>
      <p:ext uri="{BB962C8B-B14F-4D97-AF65-F5344CB8AC3E}">
        <p14:creationId xmlns:p14="http://schemas.microsoft.com/office/powerpoint/2010/main" val="307019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B006BD5-A897-408C-BD49-C9C0A719CE7D}" type="slidenum">
              <a:rPr lang="en-US" smtClean="0"/>
              <a:t>5</a:t>
            </a:fld>
            <a:endParaRPr lang="en-US"/>
          </a:p>
        </p:txBody>
      </p:sp>
    </p:spTree>
    <p:extLst>
      <p:ext uri="{BB962C8B-B14F-4D97-AF65-F5344CB8AC3E}">
        <p14:creationId xmlns:p14="http://schemas.microsoft.com/office/powerpoint/2010/main" val="406622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B006BD5-A897-408C-BD49-C9C0A719CE7D}" type="slidenum">
              <a:rPr lang="en-US" smtClean="0"/>
              <a:t>7</a:t>
            </a:fld>
            <a:endParaRPr lang="en-US"/>
          </a:p>
        </p:txBody>
      </p:sp>
    </p:spTree>
    <p:extLst>
      <p:ext uri="{BB962C8B-B14F-4D97-AF65-F5344CB8AC3E}">
        <p14:creationId xmlns:p14="http://schemas.microsoft.com/office/powerpoint/2010/main" val="989193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5A8C6-C0A8-4D2B-27C6-339CD7267D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C54CF7-CF39-E6C5-7CB1-355E02220D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11931E-53E3-C6F9-77B2-954E969E5F87}"/>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5" name="Footer Placeholder 4">
            <a:extLst>
              <a:ext uri="{FF2B5EF4-FFF2-40B4-BE49-F238E27FC236}">
                <a16:creationId xmlns:a16="http://schemas.microsoft.com/office/drawing/2014/main" id="{4E725568-7DAA-0326-CF60-E90F1BDCB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A78641-1B79-1102-B061-7A7262729655}"/>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3537674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AE9C-B2F2-D955-DFFC-76840274EF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5D7C00-E5D1-6FA4-7E11-3E45DC222A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559F6-0A09-2347-E779-AFAFBC58A590}"/>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5" name="Footer Placeholder 4">
            <a:extLst>
              <a:ext uri="{FF2B5EF4-FFF2-40B4-BE49-F238E27FC236}">
                <a16:creationId xmlns:a16="http://schemas.microsoft.com/office/drawing/2014/main" id="{FCF13D98-2A6F-533C-9119-97C23EEA9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96C7BB-A825-1B39-10AB-ADEB780911C1}"/>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3716589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C55B4-8ABA-4CDA-7CA0-D771F5A53B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40440D-C8E5-696B-A7EA-AB99B19C44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D84EF4-973D-4112-D6F9-FC2BF2F6A245}"/>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5" name="Footer Placeholder 4">
            <a:extLst>
              <a:ext uri="{FF2B5EF4-FFF2-40B4-BE49-F238E27FC236}">
                <a16:creationId xmlns:a16="http://schemas.microsoft.com/office/drawing/2014/main" id="{10A1F8B6-A239-FCF3-32DA-AAA5986B9F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5E3756-0562-05AC-8D41-008F67BA470F}"/>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1714356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FA3F9-5068-7BCF-A405-C47DAE5031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E31DB9-4C0D-BBFD-BFD4-69C876A6AB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CAA4E3-5B53-63B2-1134-B1F5C86A88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3B180F-B6EE-6197-705D-75EE90CC3AC4}"/>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6" name="Footer Placeholder 5">
            <a:extLst>
              <a:ext uri="{FF2B5EF4-FFF2-40B4-BE49-F238E27FC236}">
                <a16:creationId xmlns:a16="http://schemas.microsoft.com/office/drawing/2014/main" id="{300AAAD1-7060-130F-104D-31A16558E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F1B1F2-FD4E-FBA5-BBF8-1D9EEAD67F2C}"/>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168133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E536-FED6-E2FF-502D-1E6658068C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164F1E-A134-CE0F-2FAA-8F0293278A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80AF09-F563-EF8B-6B86-2D998104A3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90F877-7FC7-75AE-3C41-EB3F8AB594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2644F2-B7ED-F74F-C829-BE6C285959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216B2C-D13D-C1DE-E4F7-59CACA26B946}"/>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8" name="Footer Placeholder 7">
            <a:extLst>
              <a:ext uri="{FF2B5EF4-FFF2-40B4-BE49-F238E27FC236}">
                <a16:creationId xmlns:a16="http://schemas.microsoft.com/office/drawing/2014/main" id="{BBAA8C80-12F4-F12A-25CE-04AE830CE9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655CFB-EEDB-643F-B055-ECA8F39D3409}"/>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113919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E445-8305-64E5-5EE4-1161DF22F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21AC36-AE24-361A-B31B-6A93082A0CAB}"/>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4" name="Footer Placeholder 3">
            <a:extLst>
              <a:ext uri="{FF2B5EF4-FFF2-40B4-BE49-F238E27FC236}">
                <a16:creationId xmlns:a16="http://schemas.microsoft.com/office/drawing/2014/main" id="{59FD5DEF-7511-BEA8-DB73-9E945F7F5C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D4E4D6-0567-B6D7-1352-5A380C3B2105}"/>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3308811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39D47C-7D23-73E5-8D65-8E015B02915B}"/>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3" name="Footer Placeholder 2">
            <a:extLst>
              <a:ext uri="{FF2B5EF4-FFF2-40B4-BE49-F238E27FC236}">
                <a16:creationId xmlns:a16="http://schemas.microsoft.com/office/drawing/2014/main" id="{EFF4F21A-43F8-5D3D-683D-B380DBC1E2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A517D6-711D-FB45-2163-962288BFF17C}"/>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3358060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9DA6-9271-64A1-43C1-1263A153E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DC884C-93FC-4E50-CA8C-B1DFFF0D7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96F223-134F-42FD-94AF-26EC391D4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09FABB-4DB7-5483-085A-899F14CC7DE9}"/>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6" name="Footer Placeholder 5">
            <a:extLst>
              <a:ext uri="{FF2B5EF4-FFF2-40B4-BE49-F238E27FC236}">
                <a16:creationId xmlns:a16="http://schemas.microsoft.com/office/drawing/2014/main" id="{19FCA131-81F0-7E3C-E647-8E9D3AD21F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49E59E-1FAB-2432-E76D-F86E365D6536}"/>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91869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5784E-1E08-D398-DFDF-06F197E972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D18F05-10D3-CF04-1DD8-5D0A372984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DF3268-D9D1-AB63-8A9A-ACA95B1EF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7937B-8591-550E-046E-323D7AA03721}"/>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6" name="Footer Placeholder 5">
            <a:extLst>
              <a:ext uri="{FF2B5EF4-FFF2-40B4-BE49-F238E27FC236}">
                <a16:creationId xmlns:a16="http://schemas.microsoft.com/office/drawing/2014/main" id="{9BF7ACD9-8204-63C8-975B-B35CAFB3EA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873BB7-53D5-0094-F629-9296AD5C68BC}"/>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1354080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E50CC-68B0-FE91-DA09-BC1A797F7B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D881C-C9BA-0F46-6D32-39B7B86575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81CEE-D034-8C0B-0119-6EECA981A309}"/>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5" name="Footer Placeholder 4">
            <a:extLst>
              <a:ext uri="{FF2B5EF4-FFF2-40B4-BE49-F238E27FC236}">
                <a16:creationId xmlns:a16="http://schemas.microsoft.com/office/drawing/2014/main" id="{DF923FF4-1CBC-8F9E-75A0-9105F20C58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0958A-029A-9DB6-8AC0-D9D4468C0781}"/>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279753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0EF7C-E824-5794-04A4-4C7BA750D3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43D99D-535E-B894-22E4-6848C25D82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13B210-071F-EA7A-3956-4DFA62B222E1}"/>
              </a:ext>
            </a:extLst>
          </p:cNvPr>
          <p:cNvSpPr>
            <a:spLocks noGrp="1"/>
          </p:cNvSpPr>
          <p:nvPr>
            <p:ph type="dt" sz="half" idx="10"/>
          </p:nvPr>
        </p:nvSpPr>
        <p:spPr/>
        <p:txBody>
          <a:bodyPr/>
          <a:lstStyle/>
          <a:p>
            <a:fld id="{5917D16B-0655-43AD-A5C8-BD666AED90CB}" type="datetimeFigureOut">
              <a:rPr lang="en-US" smtClean="0"/>
              <a:t>2/27/2026</a:t>
            </a:fld>
            <a:endParaRPr lang="en-US"/>
          </a:p>
        </p:txBody>
      </p:sp>
      <p:sp>
        <p:nvSpPr>
          <p:cNvPr id="5" name="Footer Placeholder 4">
            <a:extLst>
              <a:ext uri="{FF2B5EF4-FFF2-40B4-BE49-F238E27FC236}">
                <a16:creationId xmlns:a16="http://schemas.microsoft.com/office/drawing/2014/main" id="{772B49C4-171B-1FD5-8CEB-FB513722D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D1D-2B21-F050-D005-AFFB8D7CC124}"/>
              </a:ext>
            </a:extLst>
          </p:cNvPr>
          <p:cNvSpPr>
            <a:spLocks noGrp="1"/>
          </p:cNvSpPr>
          <p:nvPr>
            <p:ph type="sldNum" sz="quarter" idx="12"/>
          </p:nvPr>
        </p:nvSpPr>
        <p:spPr/>
        <p:txBody>
          <a:bodyPr/>
          <a:lstStyle/>
          <a:p>
            <a:fld id="{50802595-937D-4DE5-8EAC-D7C8291AA625}" type="slidenum">
              <a:rPr lang="en-US" smtClean="0"/>
              <a:t>‹#›</a:t>
            </a:fld>
            <a:endParaRPr lang="en-US"/>
          </a:p>
        </p:txBody>
      </p:sp>
    </p:spTree>
    <p:extLst>
      <p:ext uri="{BB962C8B-B14F-4D97-AF65-F5344CB8AC3E}">
        <p14:creationId xmlns:p14="http://schemas.microsoft.com/office/powerpoint/2010/main" val="1806860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998B2-8B03-3872-D597-844A6A3B17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C45BA-3C10-D5E8-9918-06D7BD12C5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2CFB5-829E-3CFE-8496-95A2E7D301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17D16B-0655-43AD-A5C8-BD666AED90CB}" type="datetimeFigureOut">
              <a:rPr lang="en-US" smtClean="0"/>
              <a:t>2/27/2026</a:t>
            </a:fld>
            <a:endParaRPr lang="en-US"/>
          </a:p>
        </p:txBody>
      </p:sp>
      <p:sp>
        <p:nvSpPr>
          <p:cNvPr id="5" name="Footer Placeholder 4">
            <a:extLst>
              <a:ext uri="{FF2B5EF4-FFF2-40B4-BE49-F238E27FC236}">
                <a16:creationId xmlns:a16="http://schemas.microsoft.com/office/drawing/2014/main" id="{30E030E3-6841-13ED-F4F8-3375081A72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C90BDE-A802-AD79-E2EA-4D9E14CBE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802595-937D-4DE5-8EAC-D7C8291AA625}" type="slidenum">
              <a:rPr lang="en-US" smtClean="0"/>
              <a:t>‹#›</a:t>
            </a:fld>
            <a:endParaRPr lang="en-US"/>
          </a:p>
        </p:txBody>
      </p:sp>
    </p:spTree>
    <p:extLst>
      <p:ext uri="{BB962C8B-B14F-4D97-AF65-F5344CB8AC3E}">
        <p14:creationId xmlns:p14="http://schemas.microsoft.com/office/powerpoint/2010/main" val="2958082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46696-0976-D623-431E-25535B79C7A2}"/>
              </a:ext>
            </a:extLst>
          </p:cNvPr>
          <p:cNvSpPr>
            <a:spLocks noGrp="1"/>
          </p:cNvSpPr>
          <p:nvPr>
            <p:ph type="ctrTitle"/>
          </p:nvPr>
        </p:nvSpPr>
        <p:spPr/>
        <p:txBody>
          <a:bodyPr>
            <a:normAutofit/>
          </a:bodyPr>
          <a:lstStyle/>
          <a:p>
            <a:r>
              <a:rPr lang="en-US" sz="5400"/>
              <a:t>Water right modeling in SWAT+</a:t>
            </a:r>
          </a:p>
        </p:txBody>
      </p:sp>
    </p:spTree>
    <p:extLst>
      <p:ext uri="{BB962C8B-B14F-4D97-AF65-F5344CB8AC3E}">
        <p14:creationId xmlns:p14="http://schemas.microsoft.com/office/powerpoint/2010/main" val="2757222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239DA-1E2C-48AD-232B-03C4A04498E4}"/>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0D754BA3-D63E-0894-6F0E-2E2275ED4878}"/>
              </a:ext>
            </a:extLst>
          </p:cNvPr>
          <p:cNvSpPr>
            <a:spLocks noChangeArrowheads="1"/>
          </p:cNvSpPr>
          <p:nvPr/>
        </p:nvSpPr>
        <p:spPr bwMode="auto">
          <a:xfrm>
            <a:off x="7187703" y="5474790"/>
            <a:ext cx="4884671"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Aptos" panose="020B0004020202020204" pitchFamily="34" charset="0"/>
                <a:ea typeface="Arial" panose="020B0604020202020204" pitchFamily="34" charset="0"/>
                <a:cs typeface="Arial" panose="020B0604020202020204" pitchFamily="34" charset="0"/>
              </a:rPr>
              <a:t>Parameters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FF0000"/>
                </a:solidFill>
                <a:effectLst/>
                <a:highlight>
                  <a:srgbClr val="FF0000"/>
                </a:highlight>
                <a:latin typeface="Aptos" panose="020B0004020202020204" pitchFamily="34" charset="0"/>
                <a:ea typeface="Arial" panose="020B0604020202020204" pitchFamily="34" charset="0"/>
                <a:cs typeface="Arial" panose="020B0604020202020204" pitchFamily="34" charset="0"/>
              </a:rPr>
              <a:t>      </a:t>
            </a:r>
            <a:r>
              <a:rPr kumimoji="0" lang="en-US" altLang="en-US" sz="1100" b="1" i="0" u="none" strike="noStrike" cap="none" normalizeH="0" baseline="0">
                <a:ln>
                  <a:noFill/>
                </a:ln>
                <a:solidFill>
                  <a:schemeClr val="tx1"/>
                </a:solidFill>
                <a:effectLst/>
                <a:latin typeface="Aptos" panose="020B0004020202020204" pitchFamily="34" charset="0"/>
                <a:ea typeface="Arial" panose="020B0604020202020204" pitchFamily="34" charset="0"/>
                <a:cs typeface="Arial" panose="020B0604020202020204" pitchFamily="34" charset="0"/>
              </a:rPr>
              <a:t> : Parameters from the OWRD WR data source</a:t>
            </a:r>
            <a:endParaRPr kumimoji="0" lang="en-US" altLang="en-US" sz="1000" b="0" i="0" u="none" strike="noStrike" cap="none" normalizeH="0" baseline="0">
              <a:ln>
                <a:noFill/>
              </a:ln>
              <a:solidFill>
                <a:schemeClr val="tx1"/>
              </a:solidFill>
              <a:effectLst/>
            </a:endParaRPr>
          </a:p>
          <a:p>
            <a:pPr lvl="0" eaLnBrk="0" fontAlgn="base" hangingPunct="0">
              <a:spcBef>
                <a:spcPct val="0"/>
              </a:spcBef>
              <a:spcAft>
                <a:spcPct val="0"/>
              </a:spcAft>
            </a:pPr>
            <a:r>
              <a:rPr kumimoji="0" lang="en-US" altLang="en-US" sz="1100" b="1" i="0" u="none" strike="noStrike" cap="none" normalizeH="0" baseline="0">
                <a:ln>
                  <a:noFill/>
                </a:ln>
                <a:solidFill>
                  <a:srgbClr val="FF0000"/>
                </a:solidFill>
                <a:effectLst/>
                <a:highlight>
                  <a:srgbClr val="FFFF00"/>
                </a:highlight>
                <a:latin typeface="Aptos" panose="020B0004020202020204" pitchFamily="34" charset="0"/>
                <a:ea typeface="Arial" panose="020B0604020202020204" pitchFamily="34" charset="0"/>
                <a:cs typeface="Arial" panose="020B0604020202020204" pitchFamily="34" charset="0"/>
              </a:rPr>
              <a:t>      </a:t>
            </a:r>
            <a:r>
              <a:rPr kumimoji="0" lang="en-US" altLang="en-US" sz="1100" b="1" i="0" u="none" strike="noStrike" cap="none" normalizeH="0" baseline="0">
                <a:ln>
                  <a:noFill/>
                </a:ln>
                <a:solidFill>
                  <a:schemeClr val="tx1"/>
                </a:solidFill>
                <a:effectLst/>
                <a:latin typeface="Aptos" panose="020B0004020202020204" pitchFamily="34" charset="0"/>
                <a:ea typeface="Arial" panose="020B0604020202020204" pitchFamily="34" charset="0"/>
                <a:cs typeface="Arial" panose="020B0604020202020204" pitchFamily="34" charset="0"/>
              </a:rPr>
              <a:t> : </a:t>
            </a:r>
            <a:r>
              <a:rPr lang="en-US" sz="1100" b="1">
                <a:latin typeface="Aptos" panose="020B0004020202020204" pitchFamily="34" charset="0"/>
                <a:cs typeface="Arial" panose="020B0604020202020204" pitchFamily="34" charset="0"/>
              </a:rPr>
              <a:t>Parameters calculated using parameter in the OWRD WR data source</a:t>
            </a:r>
          </a:p>
          <a:p>
            <a:pPr lvl="0" eaLnBrk="0" fontAlgn="base" hangingPunct="0">
              <a:spcBef>
                <a:spcPct val="0"/>
              </a:spcBef>
              <a:spcAft>
                <a:spcPct val="0"/>
              </a:spcAft>
            </a:pPr>
            <a:r>
              <a:rPr kumimoji="0" lang="en-US" altLang="en-US" sz="1100" b="1" i="0" u="none" strike="noStrike" cap="none" normalizeH="0" baseline="0">
                <a:ln>
                  <a:noFill/>
                </a:ln>
                <a:solidFill>
                  <a:srgbClr val="FF0000"/>
                </a:solidFill>
                <a:effectLst/>
                <a:highlight>
                  <a:srgbClr val="008000"/>
                </a:highlight>
                <a:latin typeface="Aptos" panose="020B0004020202020204" pitchFamily="34" charset="0"/>
                <a:ea typeface="Arial" panose="020B0604020202020204" pitchFamily="34" charset="0"/>
                <a:cs typeface="Arial" panose="020B0604020202020204" pitchFamily="34" charset="0"/>
              </a:rPr>
              <a:t>      </a:t>
            </a:r>
            <a:r>
              <a:rPr kumimoji="0" lang="en-US" altLang="en-US" sz="1100" b="1" i="0" u="none" strike="noStrike" cap="none" normalizeH="0" baseline="0">
                <a:ln>
                  <a:noFill/>
                </a:ln>
                <a:solidFill>
                  <a:schemeClr val="tx1"/>
                </a:solidFill>
                <a:effectLst/>
                <a:latin typeface="Aptos" panose="020B0004020202020204" pitchFamily="34" charset="0"/>
                <a:ea typeface="Arial" panose="020B0604020202020204" pitchFamily="34" charset="0"/>
                <a:cs typeface="Arial" panose="020B0604020202020204" pitchFamily="34" charset="0"/>
              </a:rPr>
              <a:t> : Other data sources</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FF0000"/>
                </a:solidFill>
                <a:effectLst/>
                <a:highlight>
                  <a:srgbClr val="0000FF"/>
                </a:highlight>
                <a:latin typeface="Aptos" panose="020B0004020202020204" pitchFamily="34" charset="0"/>
                <a:ea typeface="Arial" panose="020B0604020202020204" pitchFamily="34" charset="0"/>
                <a:cs typeface="Arial" panose="020B0604020202020204" pitchFamily="34" charset="0"/>
              </a:rPr>
              <a:t>      </a:t>
            </a:r>
            <a:r>
              <a:rPr kumimoji="0" lang="en-US" altLang="en-US" sz="1100" b="1" i="0" u="none" strike="noStrike" cap="none" normalizeH="0" baseline="0">
                <a:ln>
                  <a:noFill/>
                </a:ln>
                <a:solidFill>
                  <a:schemeClr val="tx1"/>
                </a:solidFill>
                <a:effectLst/>
                <a:latin typeface="Aptos" panose="020B0004020202020204" pitchFamily="34" charset="0"/>
                <a:ea typeface="Arial" panose="020B0604020202020204" pitchFamily="34" charset="0"/>
                <a:cs typeface="Arial" panose="020B0604020202020204" pitchFamily="34" charset="0"/>
              </a:rPr>
              <a:t> : User-defined Parameters</a:t>
            </a:r>
            <a:endParaRPr kumimoji="0" lang="en-US" altLang="en-US" sz="1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FF0000"/>
                </a:solidFill>
                <a:effectLst/>
                <a:highlight>
                  <a:srgbClr val="800080"/>
                </a:highlight>
                <a:latin typeface="Aptos" panose="020B0004020202020204" pitchFamily="34" charset="0"/>
                <a:ea typeface="Arial" panose="020B0604020202020204" pitchFamily="34" charset="0"/>
                <a:cs typeface="Arial" panose="020B0604020202020204" pitchFamily="34" charset="0"/>
              </a:rPr>
              <a:t>      </a:t>
            </a:r>
            <a:r>
              <a:rPr kumimoji="0" lang="en-US" altLang="en-US" sz="1100" b="1" i="0" u="none" strike="noStrike" cap="none" normalizeH="0" baseline="0">
                <a:ln>
                  <a:noFill/>
                </a:ln>
                <a:solidFill>
                  <a:schemeClr val="tx1"/>
                </a:solidFill>
                <a:effectLst/>
                <a:latin typeface="Aptos" panose="020B0004020202020204" pitchFamily="34" charset="0"/>
                <a:ea typeface="Arial" panose="020B0604020202020204" pitchFamily="34" charset="0"/>
                <a:cs typeface="Arial" panose="020B0604020202020204" pitchFamily="34" charset="0"/>
              </a:rPr>
              <a:t> : Optional Parameters</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E6654028-06E6-41DB-E813-BB6A15B5DBA3}"/>
              </a:ext>
            </a:extLst>
          </p:cNvPr>
          <p:cNvSpPr txBox="1"/>
          <p:nvPr/>
        </p:nvSpPr>
        <p:spPr>
          <a:xfrm>
            <a:off x="382828" y="845908"/>
            <a:ext cx="6925958" cy="5647700"/>
          </a:xfrm>
          <a:prstGeom prst="rect">
            <a:avLst/>
          </a:prstGeom>
          <a:noFill/>
        </p:spPr>
        <p:txBody>
          <a:bodyPr wrap="square">
            <a:spAutoFit/>
          </a:bodyPr>
          <a:lstStyle/>
          <a:p>
            <a:pPr algn="just">
              <a:spcAft>
                <a:spcPts val="600"/>
              </a:spcAft>
            </a:pPr>
            <a:r>
              <a:rPr lang="en-US" sz="1200" b="1" kern="100">
                <a:solidFill>
                  <a:srgbClr val="0E1FBE"/>
                </a:solidFill>
                <a:effectLst/>
              </a:rPr>
              <a:t>POD ID</a:t>
            </a:r>
            <a:r>
              <a:rPr lang="en-US" sz="1200" kern="100">
                <a:solidFill>
                  <a:srgbClr val="0E1FBE"/>
                </a:solidFill>
                <a:effectLst/>
              </a:rPr>
              <a:t>: </a:t>
            </a:r>
            <a:r>
              <a:rPr lang="en-US" sz="1200"/>
              <a:t>Unique ID set by user for each unique POD in the WR database.</a:t>
            </a:r>
          </a:p>
          <a:p>
            <a:pPr algn="just">
              <a:spcAft>
                <a:spcPts val="600"/>
              </a:spcAft>
            </a:pPr>
            <a:r>
              <a:rPr lang="en-US" sz="1200" b="1">
                <a:solidFill>
                  <a:srgbClr val="FF0000"/>
                </a:solidFill>
              </a:rPr>
              <a:t>Water Use Code</a:t>
            </a:r>
            <a:r>
              <a:rPr lang="en-US" sz="1200"/>
              <a:t>: 23 POU categories.</a:t>
            </a:r>
          </a:p>
          <a:p>
            <a:pPr algn="just">
              <a:spcAft>
                <a:spcPts val="600"/>
              </a:spcAft>
            </a:pPr>
            <a:r>
              <a:rPr lang="en-US" sz="1200" b="1">
                <a:solidFill>
                  <a:srgbClr val="FF0000"/>
                </a:solidFill>
              </a:rPr>
              <a:t>Source Type</a:t>
            </a:r>
            <a:r>
              <a:rPr lang="en-US" sz="1200"/>
              <a:t>: Where the water comes from (Opt. 1. Channel, 2. Reservoir, 3. Aquifer shallow, 4. Deep Aquifer, 5. External to watershed)</a:t>
            </a:r>
          </a:p>
          <a:p>
            <a:pPr marR="0" algn="l" rtl="0">
              <a:spcAft>
                <a:spcPts val="600"/>
              </a:spcAft>
            </a:pPr>
            <a:r>
              <a:rPr lang="en-US" altLang="ko-KR" sz="1200" b="1" i="0" u="none" strike="noStrike" kern="100" baseline="0">
                <a:solidFill>
                  <a:srgbClr val="FF0000"/>
                </a:solidFill>
              </a:rPr>
              <a:t>Source ID:</a:t>
            </a:r>
            <a:r>
              <a:rPr lang="en-US" altLang="ko-KR" sz="1200" b="0" i="0" u="none" strike="noStrike" kern="100" baseline="0">
                <a:solidFill>
                  <a:srgbClr val="FF0000"/>
                </a:solidFill>
              </a:rPr>
              <a:t> </a:t>
            </a:r>
            <a:r>
              <a:rPr lang="en-US" altLang="ko-KR" sz="1200"/>
              <a:t>ID number of Source obj (ex. Cha1)</a:t>
            </a:r>
          </a:p>
          <a:p>
            <a:pPr marR="0" algn="l" rtl="0">
              <a:spcAft>
                <a:spcPts val="600"/>
              </a:spcAft>
            </a:pPr>
            <a:r>
              <a:rPr lang="en-US" altLang="ko-KR" sz="1200" b="1" i="0" u="none" strike="noStrike" kern="100" baseline="0">
                <a:solidFill>
                  <a:srgbClr val="3A7C22"/>
                </a:solidFill>
              </a:rPr>
              <a:t>Minimum Source Volume (acre-feet):</a:t>
            </a:r>
            <a:r>
              <a:rPr lang="en-US" altLang="ko-KR" sz="1200" b="1" i="0" u="none" strike="noStrike" kern="100" baseline="0">
                <a:solidFill>
                  <a:srgbClr val="3A7C22"/>
                </a:solidFill>
                <a:ea typeface="Malgun Gothic" panose="020B0503020000020004" pitchFamily="34" charset="-127"/>
              </a:rPr>
              <a:t> </a:t>
            </a:r>
            <a:r>
              <a:rPr lang="en-US" altLang="ko-KR" sz="1200"/>
              <a:t>Dead level of reservoir converted to volume.</a:t>
            </a:r>
          </a:p>
          <a:p>
            <a:pPr marR="0" algn="l" rtl="0">
              <a:spcAft>
                <a:spcPts val="600"/>
              </a:spcAft>
            </a:pPr>
            <a:r>
              <a:rPr lang="en-US" altLang="ko-KR" sz="1200" b="1" i="0" u="none" strike="noStrike" kern="100" baseline="0">
                <a:solidFill>
                  <a:srgbClr val="FF0000"/>
                </a:solidFill>
              </a:rPr>
              <a:t>Priority Date: </a:t>
            </a:r>
            <a:r>
              <a:rPr lang="en-US" altLang="ko-KR" sz="1200"/>
              <a:t>Set the water allocation priority based on this date.</a:t>
            </a:r>
          </a:p>
          <a:p>
            <a:pPr marR="0" algn="l" rtl="0">
              <a:spcAft>
                <a:spcPts val="600"/>
              </a:spcAft>
            </a:pPr>
            <a:r>
              <a:rPr lang="en-US" altLang="ko-KR" sz="1200" b="1" i="0" u="none" strike="noStrike" kern="100" baseline="0">
                <a:solidFill>
                  <a:srgbClr val="FF0000"/>
                </a:solidFill>
              </a:rPr>
              <a:t>Start/End Date:</a:t>
            </a:r>
            <a:r>
              <a:rPr lang="en-US" altLang="ko-KR" sz="1200" b="1" i="0" u="none" strike="noStrike" kern="100" baseline="0">
                <a:solidFill>
                  <a:srgbClr val="FF0000"/>
                </a:solidFill>
                <a:ea typeface="Malgun Gothic" panose="020B0503020000020004" pitchFamily="34" charset="-127"/>
              </a:rPr>
              <a:t> </a:t>
            </a:r>
            <a:r>
              <a:rPr lang="en-US" altLang="ko-KR" sz="1200"/>
              <a:t>Water right application span, used for calculation of Allowed Maximum Volume.</a:t>
            </a:r>
          </a:p>
          <a:p>
            <a:pPr marR="0" algn="l" rtl="0">
              <a:spcAft>
                <a:spcPts val="600"/>
              </a:spcAft>
            </a:pPr>
            <a:r>
              <a:rPr lang="en-US" altLang="ko-KR" sz="1200" b="1" i="0" u="none" strike="noStrike" kern="100" baseline="0">
                <a:solidFill>
                  <a:srgbClr val="FFC000"/>
                </a:solidFill>
              </a:rPr>
              <a:t>Maximum Volume Allowed:</a:t>
            </a:r>
            <a:r>
              <a:rPr lang="en-US" altLang="ko-KR" sz="1200" b="1" i="0" u="none" strike="noStrike" kern="100" baseline="0">
                <a:solidFill>
                  <a:srgbClr val="FFC000"/>
                </a:solidFill>
                <a:ea typeface="Malgun Gothic" panose="020B0503020000020004" pitchFamily="34" charset="-127"/>
              </a:rPr>
              <a:t> </a:t>
            </a:r>
            <a:r>
              <a:rPr lang="en-US" altLang="ko-KR" sz="1200"/>
              <a:t>Acre-feet unit Withdrawal rate, pre-calculated by user using OWRD WR data (Start/End Date, available Withdrawal rate or volume stated in water right)</a:t>
            </a:r>
          </a:p>
          <a:p>
            <a:pPr marR="0" algn="l" rtl="0">
              <a:spcAft>
                <a:spcPts val="600"/>
              </a:spcAft>
            </a:pPr>
            <a:r>
              <a:rPr lang="en-US" altLang="ko-KR" sz="1200" b="1" i="0" u="none" strike="noStrike" kern="100" baseline="0">
                <a:solidFill>
                  <a:srgbClr val="FF0000"/>
                </a:solidFill>
              </a:rPr>
              <a:t>Compensation options:</a:t>
            </a:r>
            <a:r>
              <a:rPr lang="en-US" altLang="ko-KR" sz="1200" b="0" i="0" u="none" strike="noStrike" kern="100" baseline="0">
                <a:solidFill>
                  <a:srgbClr val="FF0000"/>
                </a:solidFill>
                <a:ea typeface="Malgun Gothic" panose="020B0503020000020004" pitchFamily="34" charset="-127"/>
              </a:rPr>
              <a:t> </a:t>
            </a:r>
            <a:r>
              <a:rPr lang="en-US" altLang="ko-KR" sz="1200"/>
              <a:t>If this Point of Diversion (POD) has an alternative water source to use when it suffers shortage, we can refer to the other source as a compensatory source. (Opt. Absence, Exist) </a:t>
            </a:r>
          </a:p>
          <a:p>
            <a:pPr marR="0" algn="l" rtl="0">
              <a:spcAft>
                <a:spcPts val="600"/>
              </a:spcAft>
            </a:pPr>
            <a:r>
              <a:rPr lang="en-US" altLang="ko-KR" sz="1200" b="1" kern="100">
                <a:solidFill>
                  <a:srgbClr val="0E1FBE"/>
                </a:solidFill>
              </a:rPr>
              <a:t>Return Delay</a:t>
            </a:r>
            <a:r>
              <a:rPr lang="en-US" altLang="ko-KR" sz="1200"/>
              <a:t>: How long it takes for water (return flow) to go back to a stream or an aquifer.</a:t>
            </a:r>
          </a:p>
          <a:p>
            <a:pPr marR="0" algn="l" rtl="0">
              <a:spcAft>
                <a:spcPts val="600"/>
              </a:spcAft>
            </a:pPr>
            <a:r>
              <a:rPr lang="en-US" altLang="ko-KR" sz="1200" b="1" kern="100">
                <a:solidFill>
                  <a:srgbClr val="0E1FBE"/>
                </a:solidFill>
              </a:rPr>
              <a:t>Return Source</a:t>
            </a:r>
            <a:r>
              <a:rPr lang="en-US" altLang="ko-KR" sz="1200"/>
              <a:t>: The location where water used by a consumer is transported or returned.</a:t>
            </a:r>
          </a:p>
          <a:p>
            <a:pPr marR="0" algn="l" rtl="0">
              <a:spcAft>
                <a:spcPts val="600"/>
              </a:spcAft>
            </a:pPr>
            <a:r>
              <a:rPr lang="en-US" altLang="ko-KR" sz="1200" b="1" kern="100">
                <a:solidFill>
                  <a:srgbClr val="0E1FBE"/>
                </a:solidFill>
              </a:rPr>
              <a:t>Return Rate (%): </a:t>
            </a:r>
            <a:r>
              <a:rPr lang="en-US" altLang="ko-KR" sz="1200"/>
              <a:t>The rate of water returned to the system after use. (Any water not returned to the system at this rate is considered consumptive use and is completely removed from the watershed.)</a:t>
            </a:r>
          </a:p>
          <a:p>
            <a:pPr marR="0" algn="l" rtl="0">
              <a:spcAft>
                <a:spcPts val="600"/>
              </a:spcAft>
            </a:pPr>
            <a:r>
              <a:rPr lang="en-US" altLang="ko-KR" sz="1200" b="1">
                <a:solidFill>
                  <a:schemeClr val="accent5"/>
                </a:solidFill>
              </a:rPr>
              <a:t>Domestic Duty</a:t>
            </a:r>
            <a:r>
              <a:rPr lang="en-US" altLang="ko-KR" sz="1200"/>
              <a:t>: Duty for Domestic use. Acre-feet per family unit.</a:t>
            </a:r>
          </a:p>
          <a:p>
            <a:pPr marR="0" algn="l" rtl="0">
              <a:spcAft>
                <a:spcPts val="600"/>
              </a:spcAft>
            </a:pPr>
            <a:r>
              <a:rPr lang="en-US" altLang="ko-KR" sz="1200" b="1">
                <a:solidFill>
                  <a:schemeClr val="accent5"/>
                </a:solidFill>
              </a:rPr>
              <a:t>Family Number</a:t>
            </a:r>
            <a:r>
              <a:rPr lang="en-US" altLang="ko-KR" sz="1200"/>
              <a:t>: The number of family which utilized the water right. You can get this at the WR certification or Permit. (If available.)</a:t>
            </a:r>
          </a:p>
          <a:p>
            <a:pPr marR="0" algn="l" rtl="0">
              <a:spcAft>
                <a:spcPts val="600"/>
              </a:spcAft>
            </a:pPr>
            <a:r>
              <a:rPr lang="en-US" altLang="ko-KR" sz="1200" b="1">
                <a:solidFill>
                  <a:schemeClr val="accent5"/>
                </a:solidFill>
              </a:rPr>
              <a:t>Irrigation Duty</a:t>
            </a:r>
            <a:r>
              <a:rPr lang="en-US" altLang="ko-KR" sz="1200"/>
              <a:t>: Duty for Irrigation use. Acre-feet/feet unit. </a:t>
            </a:r>
          </a:p>
          <a:p>
            <a:pPr marR="0" algn="l" rtl="0">
              <a:spcAft>
                <a:spcPts val="600"/>
              </a:spcAft>
            </a:pPr>
            <a:r>
              <a:rPr lang="en-US" altLang="ko-KR" sz="1200" b="1">
                <a:solidFill>
                  <a:schemeClr val="accent5"/>
                </a:solidFill>
              </a:rPr>
              <a:t>Irrigation Area</a:t>
            </a:r>
            <a:r>
              <a:rPr lang="en-US" altLang="ko-KR" sz="1200"/>
              <a:t>: You can get this at the WR certification or Permit.</a:t>
            </a:r>
          </a:p>
          <a:p>
            <a:pPr marR="0" algn="l" rtl="0">
              <a:spcAft>
                <a:spcPts val="600"/>
              </a:spcAft>
            </a:pPr>
            <a:r>
              <a:rPr lang="en-US" altLang="ko-KR" sz="1200" b="1">
                <a:solidFill>
                  <a:schemeClr val="accent5"/>
                </a:solidFill>
              </a:rPr>
              <a:t>Livestock Duty</a:t>
            </a:r>
            <a:r>
              <a:rPr lang="en-US" altLang="ko-KR" sz="1200"/>
              <a:t>: Duty for Livestock use. Acre-feet/feet unit.</a:t>
            </a:r>
          </a:p>
          <a:p>
            <a:pPr marR="0" algn="l" rtl="0">
              <a:spcAft>
                <a:spcPts val="600"/>
              </a:spcAft>
            </a:pPr>
            <a:r>
              <a:rPr lang="en-US" altLang="ko-KR" sz="1200" b="1">
                <a:solidFill>
                  <a:schemeClr val="accent5"/>
                </a:solidFill>
              </a:rPr>
              <a:t>ELU</a:t>
            </a:r>
            <a:r>
              <a:rPr lang="en-US" altLang="ko-KR" sz="1200"/>
              <a:t>:</a:t>
            </a:r>
          </a:p>
        </p:txBody>
      </p:sp>
      <p:sp>
        <p:nvSpPr>
          <p:cNvPr id="9" name="TextBox 8">
            <a:extLst>
              <a:ext uri="{FF2B5EF4-FFF2-40B4-BE49-F238E27FC236}">
                <a16:creationId xmlns:a16="http://schemas.microsoft.com/office/drawing/2014/main" id="{D376926D-58F7-1228-75CC-13F97688061E}"/>
              </a:ext>
            </a:extLst>
          </p:cNvPr>
          <p:cNvSpPr txBox="1"/>
          <p:nvPr/>
        </p:nvSpPr>
        <p:spPr>
          <a:xfrm>
            <a:off x="8267894" y="221502"/>
            <a:ext cx="3512431" cy="3927870"/>
          </a:xfrm>
          <a:prstGeom prst="rect">
            <a:avLst/>
          </a:prstGeom>
          <a:noFill/>
        </p:spPr>
        <p:txBody>
          <a:bodyPr wrap="square">
            <a:spAutoFit/>
          </a:bodyPr>
          <a:lstStyle/>
          <a:p>
            <a:pPr algn="ctr">
              <a:lnSpc>
                <a:spcPct val="115000"/>
              </a:lnSpc>
            </a:pPr>
            <a:r>
              <a:rPr lang="en-US" sz="1050" b="1">
                <a:solidFill>
                  <a:srgbClr val="FF0000"/>
                </a:solidFill>
              </a:rPr>
              <a:t>Water use code</a:t>
            </a:r>
            <a:endParaRPr lang="en-US" sz="1050" kern="100">
              <a:effectLst/>
              <a:latin typeface="Arial" panose="020B0604020202020204" pitchFamily="34" charset="0"/>
              <a:ea typeface="Arial" panose="020B0604020202020204" pitchFamily="34" charset="0"/>
              <a:cs typeface="Arial" panose="020B0604020202020204" pitchFamily="34" charset="0"/>
            </a:endParaRPr>
          </a:p>
          <a:p>
            <a:pPr marL="0" marR="0">
              <a:lnSpc>
                <a:spcPct val="115000"/>
              </a:lnSpc>
              <a:buNone/>
            </a:pPr>
            <a:r>
              <a:rPr lang="en-US" sz="900" kern="100">
                <a:latin typeface="Arial" panose="020B0604020202020204" pitchFamily="34" charset="0"/>
                <a:cs typeface="Arial" panose="020B0604020202020204" pitchFamily="34" charset="0"/>
              </a:rPr>
              <a:t>1. Aesthetics</a:t>
            </a:r>
          </a:p>
          <a:p>
            <a:pPr marL="0" marR="0">
              <a:lnSpc>
                <a:spcPct val="115000"/>
              </a:lnSpc>
              <a:buNone/>
            </a:pPr>
            <a:r>
              <a:rPr lang="en-US" sz="900" kern="100">
                <a:latin typeface="Arial" panose="020B0604020202020204" pitchFamily="34" charset="0"/>
                <a:cs typeface="Arial" panose="020B0604020202020204" pitchFamily="34" charset="0"/>
              </a:rPr>
              <a:t>2. Agriculture uses</a:t>
            </a:r>
          </a:p>
          <a:p>
            <a:pPr marL="0" marR="0">
              <a:lnSpc>
                <a:spcPct val="115000"/>
              </a:lnSpc>
              <a:buNone/>
            </a:pPr>
            <a:r>
              <a:rPr lang="en-US" sz="900" kern="100">
                <a:latin typeface="Arial" panose="020B0604020202020204" pitchFamily="34" charset="0"/>
                <a:cs typeface="Arial" panose="020B0604020202020204" pitchFamily="34" charset="0"/>
              </a:rPr>
              <a:t>3. Anadromous and resident fish habitat (instream)</a:t>
            </a:r>
          </a:p>
          <a:p>
            <a:pPr marL="0" marR="0">
              <a:lnSpc>
                <a:spcPct val="115000"/>
              </a:lnSpc>
              <a:buNone/>
            </a:pPr>
            <a:r>
              <a:rPr lang="en-US" sz="900" kern="100">
                <a:latin typeface="Arial" panose="020B0604020202020204" pitchFamily="34" charset="0"/>
                <a:cs typeface="Arial" panose="020B0604020202020204" pitchFamily="34" charset="0"/>
              </a:rPr>
              <a:t>4. Commercial uses</a:t>
            </a:r>
          </a:p>
          <a:p>
            <a:pPr marL="0" marR="0">
              <a:lnSpc>
                <a:spcPct val="115000"/>
              </a:lnSpc>
              <a:buNone/>
            </a:pPr>
            <a:r>
              <a:rPr lang="en-US" sz="900" kern="100">
                <a:latin typeface="Arial" panose="020B0604020202020204" pitchFamily="34" charset="0"/>
                <a:cs typeface="Arial" panose="020B0604020202020204" pitchFamily="34" charset="0"/>
              </a:rPr>
              <a:t>5. Domestic</a:t>
            </a:r>
          </a:p>
          <a:p>
            <a:pPr marL="0" marR="0">
              <a:lnSpc>
                <a:spcPct val="115000"/>
              </a:lnSpc>
              <a:buNone/>
            </a:pPr>
            <a:r>
              <a:rPr lang="en-US" sz="900" kern="100">
                <a:latin typeface="Arial" panose="020B0604020202020204" pitchFamily="34" charset="0"/>
                <a:cs typeface="Arial" panose="020B0604020202020204" pitchFamily="34" charset="0"/>
              </a:rPr>
              <a:t>6. Domestic and livestock</a:t>
            </a:r>
          </a:p>
          <a:p>
            <a:pPr marL="0" marR="0">
              <a:lnSpc>
                <a:spcPct val="115000"/>
              </a:lnSpc>
              <a:buNone/>
            </a:pPr>
            <a:r>
              <a:rPr lang="en-US" sz="900" kern="100">
                <a:latin typeface="Arial" panose="020B0604020202020204" pitchFamily="34" charset="0"/>
                <a:cs typeface="Arial" panose="020B0604020202020204" pitchFamily="34" charset="0"/>
              </a:rPr>
              <a:t>7. Domestic expanded</a:t>
            </a:r>
          </a:p>
          <a:p>
            <a:pPr marL="0" marR="0">
              <a:lnSpc>
                <a:spcPct val="115000"/>
              </a:lnSpc>
              <a:buNone/>
            </a:pPr>
            <a:r>
              <a:rPr lang="en-US" sz="900" kern="100">
                <a:latin typeface="Arial" panose="020B0604020202020204" pitchFamily="34" charset="0"/>
                <a:cs typeface="Arial" panose="020B0604020202020204" pitchFamily="34" charset="0"/>
              </a:rPr>
              <a:t>8. Domestic including lawn and garden</a:t>
            </a:r>
          </a:p>
          <a:p>
            <a:pPr marL="0" marR="0">
              <a:lnSpc>
                <a:spcPct val="115000"/>
              </a:lnSpc>
              <a:buNone/>
            </a:pPr>
            <a:r>
              <a:rPr lang="en-US" sz="900" kern="100">
                <a:latin typeface="Arial" panose="020B0604020202020204" pitchFamily="34" charset="0"/>
                <a:cs typeface="Arial" panose="020B0604020202020204" pitchFamily="34" charset="0"/>
              </a:rPr>
              <a:t>9. Fire protection</a:t>
            </a:r>
          </a:p>
          <a:p>
            <a:pPr marL="0" marR="0">
              <a:lnSpc>
                <a:spcPct val="115000"/>
              </a:lnSpc>
              <a:buNone/>
            </a:pPr>
            <a:r>
              <a:rPr lang="en-US" sz="900" kern="100">
                <a:latin typeface="Arial" panose="020B0604020202020204" pitchFamily="34" charset="0"/>
                <a:cs typeface="Arial" panose="020B0604020202020204" pitchFamily="34" charset="0"/>
              </a:rPr>
              <a:t>10. Fish culture</a:t>
            </a:r>
          </a:p>
          <a:p>
            <a:pPr marL="0" marR="0">
              <a:lnSpc>
                <a:spcPct val="115000"/>
              </a:lnSpc>
              <a:buNone/>
            </a:pPr>
            <a:r>
              <a:rPr lang="en-US" sz="900" kern="100">
                <a:latin typeface="Arial" panose="020B0604020202020204" pitchFamily="34" charset="0"/>
                <a:cs typeface="Arial" panose="020B0604020202020204" pitchFamily="34" charset="0"/>
              </a:rPr>
              <a:t>11. Forest management</a:t>
            </a:r>
          </a:p>
          <a:p>
            <a:pPr marL="0" marR="0">
              <a:lnSpc>
                <a:spcPct val="115000"/>
              </a:lnSpc>
              <a:buNone/>
            </a:pPr>
            <a:r>
              <a:rPr lang="en-US" sz="900" kern="100">
                <a:latin typeface="Arial" panose="020B0604020202020204" pitchFamily="34" charset="0"/>
                <a:cs typeface="Arial" panose="020B0604020202020204" pitchFamily="34" charset="0"/>
              </a:rPr>
              <a:t>12. Human consumption</a:t>
            </a:r>
          </a:p>
          <a:p>
            <a:pPr marL="0" marR="0">
              <a:lnSpc>
                <a:spcPct val="115000"/>
              </a:lnSpc>
              <a:buNone/>
            </a:pPr>
            <a:r>
              <a:rPr lang="en-US" sz="900" kern="100">
                <a:latin typeface="Arial" panose="020B0604020202020204" pitchFamily="34" charset="0"/>
                <a:cs typeface="Arial" panose="020B0604020202020204" pitchFamily="34" charset="0"/>
              </a:rPr>
              <a:t>13. Industrial/manufacturing uses</a:t>
            </a:r>
          </a:p>
          <a:p>
            <a:pPr marL="0" marR="0">
              <a:lnSpc>
                <a:spcPct val="115000"/>
              </a:lnSpc>
              <a:buNone/>
            </a:pPr>
            <a:r>
              <a:rPr lang="en-US" sz="900" kern="100">
                <a:latin typeface="Arial" panose="020B0604020202020204" pitchFamily="34" charset="0"/>
                <a:cs typeface="Arial" panose="020B0604020202020204" pitchFamily="34" charset="0"/>
              </a:rPr>
              <a:t>14. Irrigation</a:t>
            </a:r>
          </a:p>
          <a:p>
            <a:pPr marL="0" marR="0">
              <a:lnSpc>
                <a:spcPct val="115000"/>
              </a:lnSpc>
              <a:buNone/>
            </a:pPr>
            <a:r>
              <a:rPr lang="en-US" sz="900" kern="100">
                <a:latin typeface="Arial" panose="020B0604020202020204" pitchFamily="34" charset="0"/>
                <a:cs typeface="Arial" panose="020B0604020202020204" pitchFamily="34" charset="0"/>
              </a:rPr>
              <a:t>15. Irrigation and domestic</a:t>
            </a:r>
          </a:p>
          <a:p>
            <a:pPr marL="0" marR="0">
              <a:lnSpc>
                <a:spcPct val="115000"/>
              </a:lnSpc>
              <a:buNone/>
            </a:pPr>
            <a:r>
              <a:rPr lang="en-US" sz="900" kern="100">
                <a:latin typeface="Arial" panose="020B0604020202020204" pitchFamily="34" charset="0"/>
                <a:cs typeface="Arial" panose="020B0604020202020204" pitchFamily="34" charset="0"/>
              </a:rPr>
              <a:t>16. Livestock</a:t>
            </a:r>
          </a:p>
          <a:p>
            <a:pPr marL="0" marR="0">
              <a:lnSpc>
                <a:spcPct val="115000"/>
              </a:lnSpc>
              <a:buNone/>
            </a:pPr>
            <a:r>
              <a:rPr lang="en-US" sz="900" kern="100">
                <a:latin typeface="Arial" panose="020B0604020202020204" pitchFamily="34" charset="0"/>
                <a:cs typeface="Arial" panose="020B0604020202020204" pitchFamily="34" charset="0"/>
              </a:rPr>
              <a:t>17. Mining</a:t>
            </a:r>
          </a:p>
          <a:p>
            <a:pPr marL="0" marR="0">
              <a:lnSpc>
                <a:spcPct val="115000"/>
              </a:lnSpc>
              <a:buNone/>
            </a:pPr>
            <a:r>
              <a:rPr lang="en-US" sz="900" kern="100">
                <a:latin typeface="Arial" panose="020B0604020202020204" pitchFamily="34" charset="0"/>
                <a:cs typeface="Arial" panose="020B0604020202020204" pitchFamily="34" charset="0"/>
              </a:rPr>
              <a:t>18. Multiple instream uses</a:t>
            </a:r>
          </a:p>
          <a:p>
            <a:pPr marL="0" marR="0">
              <a:lnSpc>
                <a:spcPct val="115000"/>
              </a:lnSpc>
              <a:buNone/>
            </a:pPr>
            <a:r>
              <a:rPr lang="en-US" sz="900" kern="100">
                <a:latin typeface="Arial" panose="020B0604020202020204" pitchFamily="34" charset="0"/>
                <a:cs typeface="Arial" panose="020B0604020202020204" pitchFamily="34" charset="0"/>
              </a:rPr>
              <a:t>19. Municipal uses</a:t>
            </a:r>
          </a:p>
          <a:p>
            <a:pPr marL="0" marR="0">
              <a:lnSpc>
                <a:spcPct val="115000"/>
              </a:lnSpc>
              <a:buNone/>
            </a:pPr>
            <a:r>
              <a:rPr lang="en-US" sz="900" kern="100">
                <a:latin typeface="Arial" panose="020B0604020202020204" pitchFamily="34" charset="0"/>
                <a:cs typeface="Arial" panose="020B0604020202020204" pitchFamily="34" charset="0"/>
              </a:rPr>
              <a:t>20. Pond maintenance</a:t>
            </a:r>
          </a:p>
          <a:p>
            <a:pPr marL="0" marR="0">
              <a:lnSpc>
                <a:spcPct val="115000"/>
              </a:lnSpc>
              <a:buNone/>
            </a:pPr>
            <a:r>
              <a:rPr lang="en-US" sz="900" kern="100">
                <a:latin typeface="Arial" panose="020B0604020202020204" pitchFamily="34" charset="0"/>
                <a:cs typeface="Arial" panose="020B0604020202020204" pitchFamily="34" charset="0"/>
              </a:rPr>
              <a:t>21. Power development</a:t>
            </a:r>
          </a:p>
          <a:p>
            <a:pPr marL="0" marR="0">
              <a:lnSpc>
                <a:spcPct val="115000"/>
              </a:lnSpc>
              <a:buNone/>
            </a:pPr>
            <a:r>
              <a:rPr lang="en-US" sz="900" kern="100">
                <a:latin typeface="Arial" panose="020B0604020202020204" pitchFamily="34" charset="0"/>
                <a:cs typeface="Arial" panose="020B0604020202020204" pitchFamily="34" charset="0"/>
              </a:rPr>
              <a:t>22. Storage</a:t>
            </a:r>
          </a:p>
          <a:p>
            <a:pPr marL="0" marR="0">
              <a:lnSpc>
                <a:spcPct val="115000"/>
              </a:lnSpc>
              <a:buNone/>
            </a:pPr>
            <a:r>
              <a:rPr lang="en-US" sz="900" kern="100">
                <a:latin typeface="Arial" panose="020B0604020202020204" pitchFamily="34" charset="0"/>
                <a:cs typeface="Arial" panose="020B0604020202020204" pitchFamily="34" charset="0"/>
              </a:rPr>
              <a:t>23. Wildlife</a:t>
            </a:r>
          </a:p>
        </p:txBody>
      </p:sp>
      <p:sp>
        <p:nvSpPr>
          <p:cNvPr id="12" name="TextBox 11">
            <a:extLst>
              <a:ext uri="{FF2B5EF4-FFF2-40B4-BE49-F238E27FC236}">
                <a16:creationId xmlns:a16="http://schemas.microsoft.com/office/drawing/2014/main" id="{2578A12A-5E26-73FE-C615-EE9F4649444E}"/>
              </a:ext>
            </a:extLst>
          </p:cNvPr>
          <p:cNvSpPr txBox="1"/>
          <p:nvPr/>
        </p:nvSpPr>
        <p:spPr>
          <a:xfrm>
            <a:off x="8267894" y="4149372"/>
            <a:ext cx="3669030" cy="1215717"/>
          </a:xfrm>
          <a:prstGeom prst="rect">
            <a:avLst/>
          </a:prstGeom>
          <a:noFill/>
        </p:spPr>
        <p:txBody>
          <a:bodyPr wrap="square">
            <a:spAutoFit/>
          </a:bodyPr>
          <a:lstStyle/>
          <a:p>
            <a:pPr algn="ctr"/>
            <a:r>
              <a:rPr lang="en-US" altLang="ko-KR" sz="1050" b="1">
                <a:solidFill>
                  <a:schemeClr val="accent5"/>
                </a:solidFill>
              </a:rPr>
              <a:t>ELU</a:t>
            </a:r>
          </a:p>
          <a:p>
            <a:r>
              <a:rPr lang="en-US" altLang="ko-KR" sz="900" kern="100">
                <a:latin typeface="Arial" panose="020B0604020202020204" pitchFamily="34" charset="0"/>
                <a:cs typeface="Arial" panose="020B0604020202020204" pitchFamily="34" charset="0"/>
              </a:rPr>
              <a:t>1. Cow or horse: 0.028 acre-foot</a:t>
            </a:r>
          </a:p>
          <a:p>
            <a:r>
              <a:rPr lang="en-US" altLang="ko-KR" sz="900" kern="100">
                <a:latin typeface="Arial" panose="020B0604020202020204" pitchFamily="34" charset="0"/>
                <a:cs typeface="Arial" panose="020B0604020202020204" pitchFamily="34" charset="0"/>
              </a:rPr>
              <a:t>2. Sheep, goat, swine, moose, or elk: 0.0056 acre-foot</a:t>
            </a:r>
          </a:p>
          <a:p>
            <a:r>
              <a:rPr lang="en-US" altLang="ko-KR" sz="900" kern="100">
                <a:latin typeface="Arial" panose="020B0604020202020204" pitchFamily="34" charset="0"/>
                <a:cs typeface="Arial" panose="020B0604020202020204" pitchFamily="34" charset="0"/>
              </a:rPr>
              <a:t>3. Ostrich or emu: 0.0036 acre-foot</a:t>
            </a:r>
          </a:p>
          <a:p>
            <a:r>
              <a:rPr lang="en-US" altLang="ko-KR" sz="900" kern="100">
                <a:latin typeface="Arial" panose="020B0604020202020204" pitchFamily="34" charset="0"/>
                <a:cs typeface="Arial" panose="020B0604020202020204" pitchFamily="34" charset="0"/>
              </a:rPr>
              <a:t>4. Llama: 0.0022 acre-foot</a:t>
            </a:r>
          </a:p>
          <a:p>
            <a:r>
              <a:rPr lang="en-US" altLang="ko-KR" sz="900" kern="100">
                <a:latin typeface="Arial" panose="020B0604020202020204" pitchFamily="34" charset="0"/>
                <a:cs typeface="Arial" panose="020B0604020202020204" pitchFamily="34" charset="0"/>
              </a:rPr>
              <a:t>5. Deer, antelope, bighorn sheep, or mt. Goat: 0.0014 acre-foot</a:t>
            </a:r>
          </a:p>
          <a:p>
            <a:r>
              <a:rPr lang="en-US" altLang="ko-KR" sz="900" kern="100">
                <a:latin typeface="Arial" panose="020B0604020202020204" pitchFamily="34" charset="0"/>
                <a:cs typeface="Arial" panose="020B0604020202020204" pitchFamily="34" charset="0"/>
              </a:rPr>
              <a:t>6. Chicken, turkey, chukar, Sagehen, or pheasant: 0.00084 acre-foot</a:t>
            </a:r>
          </a:p>
          <a:p>
            <a:r>
              <a:rPr lang="en-US" altLang="ko-KR" sz="900" kern="100">
                <a:latin typeface="Arial" panose="020B0604020202020204" pitchFamily="34" charset="0"/>
                <a:cs typeface="Arial" panose="020B0604020202020204" pitchFamily="34" charset="0"/>
              </a:rPr>
              <a:t>7. Mink or fox (caged): 0.00005 acre-foot</a:t>
            </a:r>
          </a:p>
        </p:txBody>
      </p:sp>
      <p:sp>
        <p:nvSpPr>
          <p:cNvPr id="13" name="TextBox 12">
            <a:extLst>
              <a:ext uri="{FF2B5EF4-FFF2-40B4-BE49-F238E27FC236}">
                <a16:creationId xmlns:a16="http://schemas.microsoft.com/office/drawing/2014/main" id="{40511698-8D7C-0973-F55C-4278C0A8A66F}"/>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Model Set-up – Description of Parameters</a:t>
            </a:r>
            <a:endParaRPr lang="en-US"/>
          </a:p>
        </p:txBody>
      </p:sp>
      <p:cxnSp>
        <p:nvCxnSpPr>
          <p:cNvPr id="14" name="Straight Connector 13">
            <a:extLst>
              <a:ext uri="{FF2B5EF4-FFF2-40B4-BE49-F238E27FC236}">
                <a16:creationId xmlns:a16="http://schemas.microsoft.com/office/drawing/2014/main" id="{9FF107D7-2267-FD83-5F82-974525DEAB19}"/>
              </a:ext>
            </a:extLst>
          </p:cNvPr>
          <p:cNvCxnSpPr>
            <a:cxnSpLocks/>
          </p:cNvCxnSpPr>
          <p:nvPr/>
        </p:nvCxnSpPr>
        <p:spPr>
          <a:xfrm>
            <a:off x="121920" y="466606"/>
            <a:ext cx="783145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58598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A45E30-5BFB-8A41-2FA9-15F98BE7E599}"/>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1 – Domestic from Channe</a:t>
            </a:r>
            <a:r>
              <a:rPr lang="en-US" b="1">
                <a:latin typeface="Arial" panose="020B0604020202020204" pitchFamily="34" charset="0"/>
                <a:ea typeface="Arial" panose="020B0604020202020204" pitchFamily="34" charset="0"/>
              </a:rPr>
              <a:t>l</a:t>
            </a:r>
            <a:endParaRPr lang="en-US"/>
          </a:p>
        </p:txBody>
      </p:sp>
      <p:cxnSp>
        <p:nvCxnSpPr>
          <p:cNvPr id="7" name="Straight Connector 6">
            <a:extLst>
              <a:ext uri="{FF2B5EF4-FFF2-40B4-BE49-F238E27FC236}">
                <a16:creationId xmlns:a16="http://schemas.microsoft.com/office/drawing/2014/main" id="{D921C120-889F-E616-87E6-D5D2BB532371}"/>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6959943A-8BC4-665D-6F7D-AC1A986D8FF0}"/>
              </a:ext>
            </a:extLst>
          </p:cNvPr>
          <p:cNvSpPr txBox="1"/>
          <p:nvPr/>
        </p:nvSpPr>
        <p:spPr>
          <a:xfrm>
            <a:off x="416719" y="1898015"/>
            <a:ext cx="10401300" cy="292516"/>
          </a:xfrm>
          <a:prstGeom prst="rect">
            <a:avLst/>
          </a:prstGeom>
          <a:noFill/>
        </p:spPr>
        <p:txBody>
          <a:bodyPr wrap="square">
            <a:spAutoFit/>
          </a:bodyPr>
          <a:lstStyle/>
          <a:p>
            <a:pPr marL="0" marR="0">
              <a:lnSpc>
                <a:spcPct val="115000"/>
              </a:lnSpc>
              <a:spcAft>
                <a:spcPts val="800"/>
              </a:spcAft>
              <a:buNone/>
            </a:pPr>
            <a:r>
              <a:rPr lang="en-US" sz="1200" b="1" kern="100">
                <a:effectLst/>
                <a:latin typeface="Arial" panose="020B0604020202020204" pitchFamily="34" charset="0"/>
                <a:ea typeface="Arial" panose="020B0604020202020204" pitchFamily="34" charset="0"/>
                <a:cs typeface="Arial" panose="020B0604020202020204" pitchFamily="34" charset="0"/>
              </a:rPr>
              <a:t>Func. Water_Allocation (POD_ID, Water_Use_Code, Source_type, Source_ID, ..., Maximum Volume Allowed)</a:t>
            </a:r>
            <a:endParaRPr lang="en-US" kern="100">
              <a:effectLst/>
              <a:latin typeface="Aptos" panose="020B0004020202020204" pitchFamily="34" charset="0"/>
              <a:ea typeface="Malgun Gothic" panose="020B0503020000020004" pitchFamily="34" charset="-127"/>
              <a:cs typeface="Arial" panose="020B0604020202020204" pitchFamily="34" charset="0"/>
            </a:endParaRPr>
          </a:p>
        </p:txBody>
      </p:sp>
      <p:sp>
        <p:nvSpPr>
          <p:cNvPr id="11" name="TextBox 10">
            <a:extLst>
              <a:ext uri="{FF2B5EF4-FFF2-40B4-BE49-F238E27FC236}">
                <a16:creationId xmlns:a16="http://schemas.microsoft.com/office/drawing/2014/main" id="{91C473E9-44DB-C96E-CA7D-53C90FBFDD2C}"/>
              </a:ext>
            </a:extLst>
          </p:cNvPr>
          <p:cNvSpPr txBox="1"/>
          <p:nvPr/>
        </p:nvSpPr>
        <p:spPr>
          <a:xfrm>
            <a:off x="416719" y="2336072"/>
            <a:ext cx="11021594" cy="3962944"/>
          </a:xfrm>
          <a:prstGeom prst="rect">
            <a:avLst/>
          </a:prstGeom>
          <a:noFill/>
        </p:spPr>
        <p:txBody>
          <a:bodyPr wrap="square">
            <a:spAutoFit/>
          </a:bodyPr>
          <a:lstStyle/>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For </a:t>
            </a:r>
            <a:r>
              <a:rPr lang="en-US" sz="1000" b="1" kern="100">
                <a:latin typeface="Arial" panose="020B0604020202020204" pitchFamily="34" charset="0"/>
                <a:ea typeface="Arial" panose="020B0604020202020204" pitchFamily="34" charset="0"/>
                <a:cs typeface="Arial" panose="020B0604020202020204" pitchFamily="34" charset="0"/>
              </a:rPr>
              <a:t>d</a:t>
            </a:r>
            <a:r>
              <a:rPr lang="en-US" sz="1000" b="1" kern="100">
                <a:effectLst/>
                <a:latin typeface="Arial" panose="020B0604020202020204" pitchFamily="34" charset="0"/>
                <a:ea typeface="Arial" panose="020B0604020202020204" pitchFamily="34" charset="0"/>
                <a:cs typeface="Arial" panose="020B0604020202020204" pitchFamily="34" charset="0"/>
              </a:rPr>
              <a:t>ay in </a:t>
            </a:r>
            <a:r>
              <a:rPr lang="en-US" sz="1000" b="1" kern="100">
                <a:latin typeface="Arial" panose="020B0604020202020204" pitchFamily="34" charset="0"/>
                <a:ea typeface="Arial" panose="020B0604020202020204" pitchFamily="34" charset="0"/>
                <a:cs typeface="Arial" panose="020B0604020202020204" pitchFamily="34" charset="0"/>
              </a:rPr>
              <a:t>operation period</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ea typeface="Malgun Gothic" panose="020B0503020000020004" pitchFamily="34" charset="-127"/>
                <a:cs typeface="Arial" panose="020B0604020202020204" pitchFamily="34" charset="0"/>
              </a:rPr>
              <a:t> Cut_off ()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For current POD_ID in POD_list</a:t>
            </a:r>
          </a:p>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		Maximum_Volume_Allowed(</a:t>
            </a:r>
            <a:r>
              <a:rPr lang="en-US" sz="1000" b="1" kern="100">
                <a:latin typeface="Arial" panose="020B0604020202020204" pitchFamily="34" charset="0"/>
                <a:cs typeface="Arial" panose="020B0604020202020204" pitchFamily="34" charset="0"/>
              </a:rPr>
              <a:t>current POD_ID, day)</a:t>
            </a:r>
            <a:r>
              <a:rPr lang="en-US" sz="1000" b="1" kern="100">
                <a:effectLst/>
                <a:latin typeface="Arial" panose="020B0604020202020204" pitchFamily="34" charset="0"/>
                <a:ea typeface="Arial" panose="020B0604020202020204" pitchFamily="34" charset="0"/>
                <a:cs typeface="Arial" panose="020B0604020202020204" pitchFamily="34" charset="0"/>
              </a:rPr>
              <a:t> </a:t>
            </a:r>
            <a:r>
              <a:rPr lang="en-US" sz="1000" b="1" kern="100">
                <a:effectLst/>
                <a:latin typeface="Arial" panose="020B0604020202020204" pitchFamily="34" charset="0"/>
                <a:ea typeface="Malgun Gothic" panose="020B0503020000020004" pitchFamily="34" charset="-127"/>
                <a:cs typeface="Arial" panose="020B0604020202020204" pitchFamily="34" charset="0"/>
              </a:rPr>
              <a:t> = </a:t>
            </a:r>
            <a:r>
              <a:rPr lang="en-US" sz="1000" b="1" kern="100">
                <a:latin typeface="Arial" panose="020B0604020202020204" pitchFamily="34" charset="0"/>
                <a:ea typeface="Malgun Gothic" panose="020B0503020000020004" pitchFamily="34" charset="-127"/>
                <a:cs typeface="Arial" panose="020B0604020202020204" pitchFamily="34" charset="0"/>
              </a:rPr>
              <a:t>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cs typeface="Arial" panose="020B0604020202020204" pitchFamily="34" charset="0"/>
              </a:rPr>
              <a:t>current POD_ID</a:t>
            </a:r>
            <a:r>
              <a:rPr lang="en-US" sz="1000" b="1" kern="100">
                <a:latin typeface="Arial" panose="020B0604020202020204" pitchFamily="34" charset="0"/>
                <a:ea typeface="Arial" panose="020B0604020202020204" pitchFamily="34" charset="0"/>
                <a:cs typeface="Arial" panose="020B0604020202020204" pitchFamily="34" charset="0"/>
              </a:rPr>
              <a:t>)</a:t>
            </a:r>
            <a:endParaRPr lang="en-US" sz="1000" b="1" kern="100">
              <a:latin typeface="Arial" panose="020B0604020202020204" pitchFamily="34" charset="0"/>
              <a:ea typeface="Malgun Gothic" panose="020B0503020000020004" pitchFamily="34" charset="-127"/>
              <a:cs typeface="Arial" panose="020B0604020202020204" pitchFamily="34" charset="0"/>
            </a:endParaRP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If Water_Use_Code == 5 ~ 8  {																																						</a:t>
            </a:r>
            <a:r>
              <a:rPr lang="en-US" sz="1000" i="1" kern="100">
                <a:latin typeface="Arial" panose="020B0604020202020204" pitchFamily="34" charset="0"/>
                <a:ea typeface="Malgun Gothic" panose="020B0503020000020004" pitchFamily="34" charset="-127"/>
              </a:rPr>
              <a:t># Water Use Code for Domestic.</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Source_Type</a:t>
            </a:r>
            <a:r>
              <a:rPr lang="en-US" sz="1000" b="1" kern="100">
                <a:latin typeface="Arial" panose="020B0604020202020204" pitchFamily="34" charset="0"/>
                <a:cs typeface="Arial" panose="020B0604020202020204" pitchFamily="34" charset="0"/>
              </a:rPr>
              <a:t> == 1  {  																												</a:t>
            </a:r>
            <a:r>
              <a:rPr lang="en-US" sz="1000" i="1" kern="100">
                <a:latin typeface="Arial" panose="020B0604020202020204" pitchFamily="34" charset="0"/>
                <a:ea typeface="Malgun Gothic" panose="020B0503020000020004" pitchFamily="34" charset="-127"/>
              </a:rPr>
              <a:t># Source_ID is linked with the pre-defined Channel_ID or </a:t>
            </a:r>
            <a:r>
              <a:rPr lang="en-US" sz="1000" i="1" kern="100" err="1">
                <a:latin typeface="Arial" panose="020B0604020202020204" pitchFamily="34" charset="0"/>
                <a:ea typeface="Malgun Gothic" panose="020B0503020000020004" pitchFamily="34" charset="-127"/>
              </a:rPr>
              <a:t>Reach_ID</a:t>
            </a:r>
            <a:r>
              <a:rPr lang="en-US" sz="1000" i="1" kern="100">
                <a:latin typeface="Arial" panose="020B0604020202020204" pitchFamily="34" charset="0"/>
                <a:ea typeface="Malgun Gothic" panose="020B0503020000020004" pitchFamily="34" charset="-127"/>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day &gt;= start_date and &lt;= end_date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SWAT_flowout</a:t>
            </a:r>
            <a:r>
              <a:rPr lang="en-US" sz="1000" b="1" kern="100">
                <a:latin typeface="Arial" panose="020B0604020202020204" pitchFamily="34" charset="0"/>
                <a:cs typeface="Arial" panose="020B0604020202020204" pitchFamily="34" charset="0"/>
              </a:rPr>
              <a:t> (day, </a:t>
            </a:r>
            <a:r>
              <a:rPr lang="en-US" sz="1000" b="1" kern="100" err="1">
                <a:latin typeface="Arial" panose="020B0604020202020204" pitchFamily="34" charset="0"/>
                <a:cs typeface="Arial" panose="020B0604020202020204" pitchFamily="34" charset="0"/>
              </a:rPr>
              <a:t>source_id</a:t>
            </a:r>
            <a:r>
              <a:rPr lang="en-US" sz="1000" b="1" kern="100">
                <a:latin typeface="Arial" panose="020B0604020202020204" pitchFamily="34" charset="0"/>
                <a:cs typeface="Arial" panose="020B0604020202020204" pitchFamily="34" charset="0"/>
              </a:rPr>
              <a:t>) &gt;= Maximum_Volume_Allowed / (end_date - start_date)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Maximum_Volume_Allowed / (end_date - start_date)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Daily volume allowed for domestic use.</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0;</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Else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a:t>
            </a:r>
            <a:r>
              <a:rPr lang="en-US" sz="1000" b="1" kern="100">
                <a:latin typeface="Arial" panose="020B0604020202020204" pitchFamily="34" charset="0"/>
                <a:cs typeface="Arial" panose="020B0604020202020204" pitchFamily="34" charset="0"/>
              </a:rPr>
              <a:t>	 }}}}}																											</a:t>
            </a:r>
            <a:r>
              <a:rPr lang="en-US" sz="1000" i="1" kern="100">
                <a:latin typeface="Arial" panose="020B0604020202020204" pitchFamily="34" charset="0"/>
                <a:ea typeface="Malgun Gothic" panose="020B0503020000020004" pitchFamily="34" charset="-127"/>
              </a:rPr>
              <a:t># Assigning Total flow for domestic.</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a:t>
            </a:r>
            <a:r>
              <a:rPr lang="en-US" sz="1000" kern="100">
                <a:latin typeface="Arial" panose="020B0604020202020204" pitchFamily="34" charset="0"/>
                <a:cs typeface="Arial" panose="020B0604020202020204" pitchFamily="34" charset="0"/>
              </a:rPr>
              <a:t>Maximum_Volume_Allowed / (end_date - start_date) - Withdrawal</a:t>
            </a:r>
            <a:endParaRPr lang="en-US" sz="1000" i="1" kern="100">
              <a:latin typeface="Arial" panose="020B0604020202020204" pitchFamily="34" charset="0"/>
              <a:ea typeface="Malgun Gothic" panose="020B0503020000020004" pitchFamily="34" charset="-127"/>
            </a:endParaRP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Withdrawal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Updating the channel flow.</a:t>
            </a:r>
          </a:p>
        </p:txBody>
      </p:sp>
      <p:graphicFrame>
        <p:nvGraphicFramePr>
          <p:cNvPr id="12" name="Table 11">
            <a:extLst>
              <a:ext uri="{FF2B5EF4-FFF2-40B4-BE49-F238E27FC236}">
                <a16:creationId xmlns:a16="http://schemas.microsoft.com/office/drawing/2014/main" id="{B045B56F-D4F3-4C2A-FD06-C4609513619C}"/>
              </a:ext>
            </a:extLst>
          </p:cNvPr>
          <p:cNvGraphicFramePr>
            <a:graphicFrameLocks noGrp="1"/>
          </p:cNvGraphicFramePr>
          <p:nvPr>
            <p:extLst>
              <p:ext uri="{D42A27DB-BD31-4B8C-83A1-F6EECF244321}">
                <p14:modId xmlns:p14="http://schemas.microsoft.com/office/powerpoint/2010/main" val="225336945"/>
              </p:ext>
            </p:extLst>
          </p:nvPr>
        </p:nvGraphicFramePr>
        <p:xfrm>
          <a:off x="416719" y="625282"/>
          <a:ext cx="11268291" cy="1081027"/>
        </p:xfrm>
        <a:graphic>
          <a:graphicData uri="http://schemas.openxmlformats.org/drawingml/2006/table">
            <a:tbl>
              <a:tblPr firstRow="1" firstCol="1" bandRow="1">
                <a:tableStyleId>{9D7B26C5-4107-4FEC-AEDC-1716B250A1EF}</a:tableStyleId>
              </a:tblPr>
              <a:tblGrid>
                <a:gridCol w="1403712">
                  <a:extLst>
                    <a:ext uri="{9D8B030D-6E8A-4147-A177-3AD203B41FA5}">
                      <a16:colId xmlns:a16="http://schemas.microsoft.com/office/drawing/2014/main" val="1058727986"/>
                    </a:ext>
                  </a:extLst>
                </a:gridCol>
                <a:gridCol w="1137503">
                  <a:extLst>
                    <a:ext uri="{9D8B030D-6E8A-4147-A177-3AD203B41FA5}">
                      <a16:colId xmlns:a16="http://schemas.microsoft.com/office/drawing/2014/main" val="1220378705"/>
                    </a:ext>
                  </a:extLst>
                </a:gridCol>
                <a:gridCol w="1230921">
                  <a:extLst>
                    <a:ext uri="{9D8B030D-6E8A-4147-A177-3AD203B41FA5}">
                      <a16:colId xmlns:a16="http://schemas.microsoft.com/office/drawing/2014/main" val="2192039817"/>
                    </a:ext>
                  </a:extLst>
                </a:gridCol>
                <a:gridCol w="1136129">
                  <a:extLst>
                    <a:ext uri="{9D8B030D-6E8A-4147-A177-3AD203B41FA5}">
                      <a16:colId xmlns:a16="http://schemas.microsoft.com/office/drawing/2014/main" val="4046327159"/>
                    </a:ext>
                  </a:extLst>
                </a:gridCol>
                <a:gridCol w="1382039">
                  <a:extLst>
                    <a:ext uri="{9D8B030D-6E8A-4147-A177-3AD203B41FA5}">
                      <a16:colId xmlns:a16="http://schemas.microsoft.com/office/drawing/2014/main" val="3683911116"/>
                    </a:ext>
                  </a:extLst>
                </a:gridCol>
                <a:gridCol w="1163606">
                  <a:extLst>
                    <a:ext uri="{9D8B030D-6E8A-4147-A177-3AD203B41FA5}">
                      <a16:colId xmlns:a16="http://schemas.microsoft.com/office/drawing/2014/main" val="2687951471"/>
                    </a:ext>
                  </a:extLst>
                </a:gridCol>
                <a:gridCol w="1123765">
                  <a:extLst>
                    <a:ext uri="{9D8B030D-6E8A-4147-A177-3AD203B41FA5}">
                      <a16:colId xmlns:a16="http://schemas.microsoft.com/office/drawing/2014/main" val="2248342749"/>
                    </a:ext>
                  </a:extLst>
                </a:gridCol>
                <a:gridCol w="1169101">
                  <a:extLst>
                    <a:ext uri="{9D8B030D-6E8A-4147-A177-3AD203B41FA5}">
                      <a16:colId xmlns:a16="http://schemas.microsoft.com/office/drawing/2014/main" val="1716385843"/>
                    </a:ext>
                  </a:extLst>
                </a:gridCol>
                <a:gridCol w="1521515">
                  <a:extLst>
                    <a:ext uri="{9D8B030D-6E8A-4147-A177-3AD203B41FA5}">
                      <a16:colId xmlns:a16="http://schemas.microsoft.com/office/drawing/2014/main" val="1987644138"/>
                    </a:ext>
                  </a:extLst>
                </a:gridCol>
              </a:tblGrid>
              <a:tr h="349322">
                <a:tc>
                  <a:txBody>
                    <a:bodyPr/>
                    <a:lstStyle/>
                    <a:p>
                      <a:pPr marL="0" marR="0" algn="ctr">
                        <a:lnSpc>
                          <a:spcPct val="115000"/>
                        </a:lnSpc>
                        <a:spcAft>
                          <a:spcPts val="800"/>
                        </a:spcAft>
                        <a:buNone/>
                      </a:pPr>
                      <a:r>
                        <a:rPr lang="en-US" sz="1100" kern="100">
                          <a:effectLst/>
                        </a:rPr>
                        <a:t>POD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Water Use Code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Type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Minimum Source Volume</a:t>
                      </a:r>
                      <a:endParaRPr lang="en-US" sz="1800" kern="100">
                        <a:effectLst/>
                      </a:endParaRPr>
                    </a:p>
                  </a:txBody>
                  <a:tcPr marL="68580" marR="68580" marT="0" marB="0" anchor="ctr"/>
                </a:tc>
                <a:tc>
                  <a:txBody>
                    <a:bodyPr/>
                    <a:lstStyle/>
                    <a:p>
                      <a:pPr marL="0" marR="0" algn="ctr">
                        <a:lnSpc>
                          <a:spcPct val="115000"/>
                        </a:lnSpc>
                        <a:spcAft>
                          <a:spcPts val="800"/>
                        </a:spcAft>
                        <a:buNone/>
                      </a:pPr>
                      <a:r>
                        <a:rPr lang="en-US" sz="1100" kern="100">
                          <a:effectLst/>
                        </a:rPr>
                        <a:t>Priority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Start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End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Maximum Volume Allowed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extLst>
                  <a:ext uri="{0D108BD9-81ED-4DB2-BD59-A6C34878D82A}">
                    <a16:rowId xmlns:a16="http://schemas.microsoft.com/office/drawing/2014/main" val="3378973156"/>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1 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5</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1</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Cha1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436149"/>
                  </a:ext>
                </a:extLst>
              </a:tr>
              <a:tr h="371732">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Domestic Duty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Family Number</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Delay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Source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Rate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756887"/>
                  </a:ext>
                </a:extLst>
              </a:tr>
              <a:tr h="86001">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endParaRPr lang="en-US" sz="1000" b="1" kern="100">
                        <a:solidFill>
                          <a:schemeClr val="tx1"/>
                        </a:solidFill>
                        <a:effectLst/>
                        <a:latin typeface="+mn-lt"/>
                        <a:ea typeface="+mn-ea"/>
                        <a:cs typeface="+mn-cs"/>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12415012"/>
                  </a:ext>
                </a:extLst>
              </a:tr>
            </a:tbl>
          </a:graphicData>
        </a:graphic>
      </p:graphicFrame>
      <p:cxnSp>
        <p:nvCxnSpPr>
          <p:cNvPr id="14" name="Straight Connector 13">
            <a:extLst>
              <a:ext uri="{FF2B5EF4-FFF2-40B4-BE49-F238E27FC236}">
                <a16:creationId xmlns:a16="http://schemas.microsoft.com/office/drawing/2014/main" id="{2598BEF6-7A1F-1B47-FA89-B762249742BB}"/>
              </a:ext>
            </a:extLst>
          </p:cNvPr>
          <p:cNvCxnSpPr>
            <a:cxnSpLocks/>
          </p:cNvCxnSpPr>
          <p:nvPr/>
        </p:nvCxnSpPr>
        <p:spPr>
          <a:xfrm>
            <a:off x="392169" y="3039514"/>
            <a:ext cx="11292840" cy="0"/>
          </a:xfrm>
          <a:prstGeom prst="line">
            <a:avLst/>
          </a:prstGeom>
          <a:ln>
            <a:prstDash val="sysDot"/>
          </a:ln>
        </p:spPr>
        <p:style>
          <a:lnRef idx="1">
            <a:schemeClr val="dk1"/>
          </a:lnRef>
          <a:fillRef idx="0">
            <a:schemeClr val="dk1"/>
          </a:fillRef>
          <a:effectRef idx="0">
            <a:schemeClr val="dk1"/>
          </a:effectRef>
          <a:fontRef idx="minor">
            <a:schemeClr val="tx1"/>
          </a:fontRef>
        </p:style>
      </p:cxnSp>
      <p:grpSp>
        <p:nvGrpSpPr>
          <p:cNvPr id="40" name="Group 39">
            <a:extLst>
              <a:ext uri="{FF2B5EF4-FFF2-40B4-BE49-F238E27FC236}">
                <a16:creationId xmlns:a16="http://schemas.microsoft.com/office/drawing/2014/main" id="{29A0891F-B3AA-B347-9D99-5EB8BEFB9DCA}"/>
              </a:ext>
            </a:extLst>
          </p:cNvPr>
          <p:cNvGrpSpPr/>
          <p:nvPr/>
        </p:nvGrpSpPr>
        <p:grpSpPr>
          <a:xfrm>
            <a:off x="2396916" y="3848620"/>
            <a:ext cx="7204284" cy="2300315"/>
            <a:chOff x="2396916" y="3848620"/>
            <a:chExt cx="7204284" cy="2300315"/>
          </a:xfrm>
        </p:grpSpPr>
        <p:cxnSp>
          <p:nvCxnSpPr>
            <p:cNvPr id="6" name="Straight Connector 5">
              <a:extLst>
                <a:ext uri="{FF2B5EF4-FFF2-40B4-BE49-F238E27FC236}">
                  <a16:creationId xmlns:a16="http://schemas.microsoft.com/office/drawing/2014/main" id="{4E399216-7D45-3361-0433-2069371F1E32}"/>
                </a:ext>
              </a:extLst>
            </p:cNvPr>
            <p:cNvCxnSpPr>
              <a:cxnSpLocks/>
            </p:cNvCxnSpPr>
            <p:nvPr/>
          </p:nvCxnSpPr>
          <p:spPr>
            <a:xfrm>
              <a:off x="2747437" y="3848620"/>
              <a:ext cx="657113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9D3835E-1083-5CB4-E5A4-1B7A34ED1674}"/>
                </a:ext>
              </a:extLst>
            </p:cNvPr>
            <p:cNvCxnSpPr>
              <a:cxnSpLocks/>
            </p:cNvCxnSpPr>
            <p:nvPr/>
          </p:nvCxnSpPr>
          <p:spPr>
            <a:xfrm>
              <a:off x="2396916" y="4128327"/>
              <a:ext cx="500380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45D04EC-D27D-F9E6-C0CE-91F3624601AB}"/>
                </a:ext>
              </a:extLst>
            </p:cNvPr>
            <p:cNvCxnSpPr>
              <a:cxnSpLocks/>
            </p:cNvCxnSpPr>
            <p:nvPr/>
          </p:nvCxnSpPr>
          <p:spPr>
            <a:xfrm>
              <a:off x="5378723" y="4890172"/>
              <a:ext cx="345770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19E2CB-E3B2-8C36-70D7-C7391942D86C}"/>
                </a:ext>
              </a:extLst>
            </p:cNvPr>
            <p:cNvCxnSpPr>
              <a:cxnSpLocks/>
            </p:cNvCxnSpPr>
            <p:nvPr/>
          </p:nvCxnSpPr>
          <p:spPr>
            <a:xfrm>
              <a:off x="4489261" y="5647400"/>
              <a:ext cx="4746179"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D6B9591-6423-50F9-2CEE-740655E26181}"/>
                </a:ext>
              </a:extLst>
            </p:cNvPr>
            <p:cNvCxnSpPr>
              <a:cxnSpLocks/>
            </p:cNvCxnSpPr>
            <p:nvPr/>
          </p:nvCxnSpPr>
          <p:spPr>
            <a:xfrm>
              <a:off x="6112626" y="6148935"/>
              <a:ext cx="3488574" cy="0"/>
            </a:xfrm>
            <a:prstGeom prst="line">
              <a:avLst/>
            </a:prstGeom>
            <a:ln>
              <a:prstDash val="sysDot"/>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69356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7323B-E82A-4990-3A5D-349519391C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00022A-F0F8-134B-A73B-940F60605514}"/>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1 – Domestic from Channe</a:t>
            </a:r>
            <a:r>
              <a:rPr lang="en-US" b="1">
                <a:latin typeface="Arial" panose="020B0604020202020204" pitchFamily="34" charset="0"/>
                <a:ea typeface="Arial" panose="020B0604020202020204" pitchFamily="34" charset="0"/>
              </a:rPr>
              <a:t>l</a:t>
            </a:r>
            <a:endParaRPr lang="en-US"/>
          </a:p>
        </p:txBody>
      </p:sp>
      <p:cxnSp>
        <p:nvCxnSpPr>
          <p:cNvPr id="7" name="Straight Connector 6">
            <a:extLst>
              <a:ext uri="{FF2B5EF4-FFF2-40B4-BE49-F238E27FC236}">
                <a16:creationId xmlns:a16="http://schemas.microsoft.com/office/drawing/2014/main" id="{54EE7CE0-1EAE-5C5A-ABB3-40EAC8C7021A}"/>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DE404DF0-240E-9E8C-F8C8-94DB0BCF4786}"/>
              </a:ext>
            </a:extLst>
          </p:cNvPr>
          <p:cNvSpPr txBox="1"/>
          <p:nvPr/>
        </p:nvSpPr>
        <p:spPr>
          <a:xfrm>
            <a:off x="325279" y="574417"/>
            <a:ext cx="11358562" cy="6309420"/>
          </a:xfrm>
          <a:prstGeom prst="rect">
            <a:avLst/>
          </a:prstGeom>
          <a:noFill/>
        </p:spPr>
        <p:txBody>
          <a:bodyPr wrap="square">
            <a:spAutoFit/>
          </a:bodyPr>
          <a:lstStyle/>
          <a:p>
            <a:pPr marL="0" marR="0" defTabSz="182880">
              <a:spcAft>
                <a:spcPts val="600"/>
              </a:spcAft>
              <a:buNone/>
            </a:pPr>
            <a:r>
              <a:rPr lang="en-US" sz="800" b="1" kern="100">
                <a:latin typeface="Arial" panose="020B0604020202020204" pitchFamily="34" charset="0"/>
                <a:cs typeface="Arial" panose="020B0604020202020204" pitchFamily="34" charset="0"/>
              </a:rPr>
              <a:t>Def Cut_off (POD_list, start_date, end_date) {</a:t>
            </a:r>
          </a:p>
          <a:p>
            <a:pPr defTabSz="182880">
              <a:spcAft>
                <a:spcPts val="600"/>
              </a:spcAft>
            </a:pPr>
            <a:r>
              <a:rPr lang="en-US" sz="800" b="1" kern="100">
                <a:latin typeface="Arial" panose="020B0604020202020204" pitchFamily="34" charset="0"/>
                <a:cs typeface="Arial" panose="020B0604020202020204" pitchFamily="34" charset="0"/>
              </a:rPr>
              <a:t>	For POD_list {</a:t>
            </a:r>
          </a:p>
          <a:p>
            <a:pPr defTabSz="182880">
              <a:spcAft>
                <a:spcPts val="600"/>
              </a:spcAft>
            </a:pPr>
            <a:r>
              <a:rPr lang="en-US" altLang="ko-KR" sz="800" b="1" i="0" u="none" strike="noStrike" kern="100" baseline="0">
                <a:latin typeface="Arial" panose="020B0604020202020204" pitchFamily="34" charset="0"/>
                <a:cs typeface="Arial" panose="020B0604020202020204" pitchFamily="34" charset="0"/>
              </a:rPr>
              <a:t>		</a:t>
            </a:r>
            <a:r>
              <a:rPr lang="en-US" altLang="ko-KR" sz="800" b="1" i="0" u="none" strike="noStrike" kern="100" baseline="0">
                <a:latin typeface="Arial" panose="020B0604020202020204" pitchFamily="34" charset="0"/>
              </a:rPr>
              <a:t>If Water_Use_Code == </a:t>
            </a:r>
            <a:r>
              <a:rPr lang="en-US" altLang="ko-KR" sz="800" b="1" i="0" u="none" strike="noStrike" kern="100" baseline="0">
                <a:latin typeface="Arial" panose="020B0604020202020204" pitchFamily="34" charset="0"/>
                <a:ea typeface="Malgun Gothic" panose="020B0503020000020004" pitchFamily="34" charset="-127"/>
              </a:rPr>
              <a:t>5 to 8   {																																	</a:t>
            </a:r>
            <a:r>
              <a:rPr lang="en-US" altLang="ko-KR" sz="800" b="1" kern="100">
                <a:latin typeface="Arial" panose="020B0604020202020204" pitchFamily="34" charset="0"/>
                <a:ea typeface="Malgun Gothic" panose="020B0503020000020004" pitchFamily="34" charset="-127"/>
              </a:rPr>
              <a:t>										</a:t>
            </a:r>
            <a:r>
              <a:rPr lang="en-US" altLang="ko-KR" sz="800" b="0" i="1" u="none" strike="noStrike" kern="100" baseline="0">
                <a:latin typeface="Arial" panose="020B0604020202020204" pitchFamily="34" charset="0"/>
                <a:ea typeface="Malgun Gothic" panose="020B0503020000020004" pitchFamily="34" charset="-127"/>
              </a:rPr>
              <a:t># Water Use Code for Domestic.</a:t>
            </a:r>
          </a:p>
          <a:p>
            <a:pPr defTabSz="182880">
              <a:spcAft>
                <a:spcPts val="600"/>
              </a:spcAft>
            </a:pPr>
            <a:r>
              <a:rPr lang="en-US" altLang="ko-KR" sz="800" i="1" kern="100">
                <a:latin typeface="Arial" panose="020B0604020202020204" pitchFamily="34" charset="0"/>
                <a:ea typeface="Malgun Gothic" panose="020B0503020000020004" pitchFamily="34" charset="-127"/>
              </a:rPr>
              <a:t>			</a:t>
            </a:r>
            <a:r>
              <a:rPr lang="en-US" altLang="ko-KR" sz="800" b="1" kern="100">
                <a:latin typeface="Arial" panose="020B0604020202020204" pitchFamily="34" charset="0"/>
              </a:rPr>
              <a:t>If Domestic_Duty &gt; Maximum_Volume_Allowed { </a:t>
            </a:r>
            <a:r>
              <a:rPr lang="en-US" altLang="ko-KR" sz="800" i="1" kern="100">
                <a:latin typeface="Arial" panose="020B0604020202020204" pitchFamily="34" charset="0"/>
                <a:ea typeface="Malgun Gothic" panose="020B0503020000020004" pitchFamily="34" charset="-127"/>
              </a:rPr>
              <a:t>																														# If they have a duty, use duty as Maximum Volume Allowed.</a:t>
            </a:r>
          </a:p>
          <a:p>
            <a:pPr defTabSz="182880">
              <a:spcAft>
                <a:spcPts val="600"/>
              </a:spcAft>
            </a:pPr>
            <a:r>
              <a:rPr lang="en-US" altLang="ko-KR" sz="800" b="1" kern="100">
                <a:latin typeface="Arial" panose="020B0604020202020204" pitchFamily="34" charset="0"/>
              </a:rPr>
              <a:t>				</a:t>
            </a:r>
            <a:r>
              <a:rPr lang="en-US" altLang="ko-KR" sz="800" kern="100">
                <a:latin typeface="Arial" panose="020B0604020202020204" pitchFamily="34" charset="0"/>
              </a:rPr>
              <a:t>Maximum_Volume_Allowed = Domestic_Duty * Family_Number </a:t>
            </a:r>
            <a:r>
              <a:rPr lang="en-US" altLang="ko-KR" sz="800" b="1" kern="100">
                <a:latin typeface="Arial" panose="020B0604020202020204" pitchFamily="34" charset="0"/>
              </a:rPr>
              <a:t>}</a:t>
            </a:r>
            <a:r>
              <a:rPr lang="en-US" altLang="ko-KR" sz="800" b="1" kern="100">
                <a:latin typeface="Arial" panose="020B0604020202020204" pitchFamily="34" charset="0"/>
                <a:ea typeface="Malgun Gothic" panose="020B0503020000020004" pitchFamily="34" charset="-127"/>
              </a:rPr>
              <a:t>}</a:t>
            </a:r>
          </a:p>
          <a:p>
            <a:pPr defTabSz="182880">
              <a:spcAft>
                <a:spcPts val="600"/>
              </a:spcAft>
            </a:pPr>
            <a:r>
              <a:rPr lang="en-US" altLang="ko-KR" sz="800" b="1" kern="100">
                <a:latin typeface="Arial" panose="020B0604020202020204" pitchFamily="34" charset="0"/>
                <a:ea typeface="Malgun Gothic" panose="020B0503020000020004" pitchFamily="34" charset="-127"/>
              </a:rPr>
              <a:t>		If Water_Use_Code == 14 or 15   {																																											</a:t>
            </a:r>
            <a:r>
              <a:rPr lang="en-US" altLang="ko-KR" sz="800" i="1" kern="100">
                <a:latin typeface="Arial" panose="020B0604020202020204" pitchFamily="34" charset="0"/>
                <a:ea typeface="Malgun Gothic" panose="020B0503020000020004" pitchFamily="34" charset="-127"/>
              </a:rPr>
              <a:t># Water Use Code for Irrigation.</a:t>
            </a:r>
          </a:p>
          <a:p>
            <a:pPr defTabSz="182880">
              <a:spcAft>
                <a:spcPts val="600"/>
              </a:spcAft>
            </a:pPr>
            <a:r>
              <a:rPr lang="en-US" altLang="ko-KR" sz="800" b="1" kern="100">
                <a:latin typeface="Arial" panose="020B0604020202020204" pitchFamily="34" charset="0"/>
                <a:ea typeface="Malgun Gothic" panose="020B0503020000020004" pitchFamily="34" charset="-127"/>
              </a:rPr>
              <a:t>			If Irragation_Duty &gt; </a:t>
            </a:r>
            <a:r>
              <a:rPr lang="en-US" altLang="ko-KR" sz="800" b="1" kern="100">
                <a:latin typeface="Arial" panose="020B0604020202020204" pitchFamily="34" charset="0"/>
              </a:rPr>
              <a:t>Maximum_Volume_Allowed</a:t>
            </a:r>
            <a:r>
              <a:rPr lang="en-US" altLang="ko-KR" sz="800" b="1" kern="100">
                <a:latin typeface="Arial" panose="020B0604020202020204" pitchFamily="34" charset="0"/>
                <a:ea typeface="Malgun Gothic" panose="020B0503020000020004" pitchFamily="34" charset="-127"/>
              </a:rPr>
              <a:t>  {																														</a:t>
            </a:r>
            <a:r>
              <a:rPr lang="en-US" altLang="ko-KR" sz="800" i="1" kern="100">
                <a:latin typeface="Arial" panose="020B0604020202020204" pitchFamily="34" charset="0"/>
                <a:ea typeface="Malgun Gothic" panose="020B0503020000020004" pitchFamily="34" charset="-127"/>
              </a:rPr>
              <a:t># If they have a duty, use duty as Maximum Volume Allowed.</a:t>
            </a:r>
          </a:p>
          <a:p>
            <a:pPr defTabSz="182880">
              <a:spcAft>
                <a:spcPts val="600"/>
              </a:spcAft>
            </a:pPr>
            <a:r>
              <a:rPr lang="en-US" altLang="ko-KR" sz="800" b="1" kern="100">
                <a:latin typeface="Arial" panose="020B0604020202020204" pitchFamily="34" charset="0"/>
                <a:ea typeface="Malgun Gothic" panose="020B0503020000020004" pitchFamily="34" charset="-127"/>
              </a:rPr>
              <a:t>				</a:t>
            </a:r>
            <a:r>
              <a:rPr lang="en-US" altLang="ko-KR" sz="800" kern="100">
                <a:latin typeface="Arial" panose="020B0604020202020204" pitchFamily="34" charset="0"/>
                <a:ea typeface="Malgun Gothic" panose="020B0503020000020004" pitchFamily="34" charset="-127"/>
              </a:rPr>
              <a:t>Maximum_Volume_Allowed = Irrigation_Duty * Irrigation_Area </a:t>
            </a:r>
            <a:r>
              <a:rPr lang="en-US" altLang="ko-KR" sz="800" b="1" kern="100">
                <a:latin typeface="Arial" panose="020B0604020202020204" pitchFamily="34" charset="0"/>
                <a:ea typeface="Malgun Gothic" panose="020B0503020000020004" pitchFamily="34" charset="-127"/>
              </a:rPr>
              <a:t>}}</a:t>
            </a:r>
          </a:p>
          <a:p>
            <a:pPr marR="0" algn="l" defTabSz="182880" rtl="0">
              <a:spcAft>
                <a:spcPts val="600"/>
              </a:spcAft>
            </a:pPr>
            <a:r>
              <a:rPr lang="en-US" altLang="ko-KR" sz="800" b="1" i="0" u="none" strike="noStrike" kern="100" baseline="0">
                <a:latin typeface="Arial" panose="020B0604020202020204" pitchFamily="34" charset="0"/>
              </a:rPr>
              <a:t>		If Water_Use_Code == </a:t>
            </a:r>
            <a:r>
              <a:rPr lang="en-US" altLang="ko-KR" sz="800" b="1" i="0" u="none" strike="noStrike" kern="100" baseline="0">
                <a:latin typeface="Arial" panose="020B0604020202020204" pitchFamily="34" charset="0"/>
                <a:ea typeface="Malgun Gothic" panose="020B0503020000020004" pitchFamily="34" charset="-127"/>
              </a:rPr>
              <a:t>16 {																																												</a:t>
            </a:r>
            <a:r>
              <a:rPr lang="en-US" altLang="ko-KR" sz="800" i="1" kern="100">
                <a:latin typeface="Arial" panose="020B0604020202020204" pitchFamily="34" charset="0"/>
                <a:ea typeface="Malgun Gothic" panose="020B0503020000020004" pitchFamily="34" charset="-127"/>
              </a:rPr>
              <a:t># Water Use Code for livestock.</a:t>
            </a:r>
          </a:p>
          <a:p>
            <a:pPr defTabSz="182880">
              <a:spcAft>
                <a:spcPts val="600"/>
              </a:spcAft>
            </a:pPr>
            <a:r>
              <a:rPr lang="en-US" altLang="ko-KR" sz="800" b="1" i="0" u="none" strike="noStrike" kern="100" baseline="0">
                <a:latin typeface="Arial" panose="020B0604020202020204" pitchFamily="34" charset="0"/>
              </a:rPr>
              <a:t>			If </a:t>
            </a:r>
            <a:r>
              <a:rPr lang="en-US" altLang="ko-KR" sz="800" b="1" i="0" u="none" strike="noStrike" kern="100" baseline="0">
                <a:latin typeface="Arial" panose="020B0604020202020204" pitchFamily="34" charset="0"/>
                <a:ea typeface="Malgun Gothic" panose="020B0503020000020004" pitchFamily="34" charset="-127"/>
              </a:rPr>
              <a:t>Livestock_Duty &gt; </a:t>
            </a:r>
            <a:r>
              <a:rPr lang="en-US" altLang="ko-KR" sz="800" b="1" kern="100">
                <a:latin typeface="Arial" panose="020B0604020202020204" pitchFamily="34" charset="0"/>
              </a:rPr>
              <a:t>Maximum_Volume_Allowed</a:t>
            </a:r>
            <a:r>
              <a:rPr lang="en-US" altLang="ko-KR" sz="800" b="1" i="0" u="none" strike="noStrike" kern="100" baseline="0">
                <a:latin typeface="Arial" panose="020B0604020202020204" pitchFamily="34" charset="0"/>
                <a:ea typeface="Malgun Gothic" panose="020B0503020000020004" pitchFamily="34" charset="-127"/>
              </a:rPr>
              <a:t>  {																														</a:t>
            </a:r>
            <a:r>
              <a:rPr lang="en-US" altLang="ko-KR" sz="800" i="1" kern="100">
                <a:latin typeface="Arial" panose="020B0604020202020204" pitchFamily="34" charset="0"/>
                <a:ea typeface="Malgun Gothic" panose="020B0503020000020004" pitchFamily="34" charset="-127"/>
              </a:rPr>
              <a:t># If they have a duty, use duty as Maximum Volume Allowed.</a:t>
            </a:r>
          </a:p>
          <a:p>
            <a:pPr marR="0" lvl="1" algn="l" defTabSz="182880" rtl="0">
              <a:spcAft>
                <a:spcPts val="600"/>
              </a:spcAft>
            </a:pPr>
            <a:r>
              <a:rPr lang="en-US" altLang="ko-KR" sz="800" b="1" i="0" u="none" strike="noStrike" kern="100" baseline="0">
                <a:latin typeface="Arial" panose="020B0604020202020204" pitchFamily="34" charset="0"/>
                <a:ea typeface="Malgun Gothic" panose="020B0503020000020004" pitchFamily="34" charset="-127"/>
              </a:rPr>
              <a:t>		If Stock_Type == 1 (Cow or Horse)  {</a:t>
            </a:r>
          </a:p>
          <a:p>
            <a:pPr marR="0" lvl="1" algn="l" defTabSz="182880" rtl="0">
              <a:spcAft>
                <a:spcPts val="600"/>
              </a:spcAft>
            </a:pPr>
            <a:r>
              <a:rPr lang="en-US" altLang="ko-KR" sz="800" b="1" kern="100">
                <a:latin typeface="Arial" panose="020B0604020202020204" pitchFamily="34" charset="0"/>
                <a:ea typeface="Malgun Gothic" panose="020B0503020000020004" pitchFamily="34" charset="-127"/>
              </a:rPr>
              <a:t>			</a:t>
            </a:r>
            <a:r>
              <a:rPr lang="en-US" altLang="ko-KR" sz="800" b="0" i="0" u="none" strike="noStrike" kern="100" baseline="0">
                <a:latin typeface="Arial" panose="020B0604020202020204" pitchFamily="34" charset="0"/>
              </a:rPr>
              <a:t>ELU = 0.028  							</a:t>
            </a:r>
            <a:r>
              <a:rPr lang="en-US" altLang="ko-KR" sz="800" b="0" i="0" u="none" strike="noStrike" kern="100" baseline="0">
                <a:latin typeface="Arial" panose="020B0604020202020204" pitchFamily="34" charset="0"/>
                <a:ea typeface="Malgun Gothic" panose="020B0503020000020004" pitchFamily="34" charset="-127"/>
              </a:rPr>
              <a:t>																																							</a:t>
            </a:r>
            <a:r>
              <a:rPr lang="en-US" altLang="ko-KR" sz="800" i="1" kern="100">
                <a:latin typeface="Arial" panose="020B0604020202020204" pitchFamily="34" charset="0"/>
                <a:ea typeface="Malgun Gothic" panose="020B0503020000020004" pitchFamily="34" charset="-127"/>
              </a:rPr>
              <a:t># Equivalent Livestock Unit.</a:t>
            </a:r>
          </a:p>
          <a:p>
            <a:pPr marR="0" lvl="1" algn="l" defTabSz="182880" rtl="0">
              <a:spcAft>
                <a:spcPts val="600"/>
              </a:spcAft>
            </a:pPr>
            <a:r>
              <a:rPr lang="en-US" altLang="ko-KR" sz="800" b="1" i="0" u="none" strike="noStrike" kern="100" baseline="0">
                <a:latin typeface="Arial" panose="020B0604020202020204" pitchFamily="34" charset="0"/>
              </a:rPr>
              <a:t>		Else</a:t>
            </a:r>
          </a:p>
          <a:p>
            <a:pPr marR="0" lvl="1" algn="l" defTabSz="182880" rtl="0">
              <a:spcAft>
                <a:spcPts val="600"/>
              </a:spcAft>
            </a:pPr>
            <a:r>
              <a:rPr lang="en-US" altLang="ko-KR" sz="800" b="0" i="0" u="none" strike="noStrike" kern="100" baseline="0">
                <a:latin typeface="Arial" panose="020B0604020202020204" pitchFamily="34" charset="0"/>
              </a:rPr>
              <a:t>		Maximum_Volume_Allowed = Livestock_Duty * ELU</a:t>
            </a:r>
            <a:r>
              <a:rPr lang="en-US" altLang="ko-KR" sz="800" b="0" i="0" u="none" strike="noStrike" kern="100" baseline="0">
                <a:latin typeface="Arial" panose="020B0604020202020204" pitchFamily="34" charset="0"/>
                <a:ea typeface="Malgun Gothic" panose="020B0503020000020004" pitchFamily="34" charset="-127"/>
              </a:rPr>
              <a:t> * Number_Livestock </a:t>
            </a:r>
            <a:r>
              <a:rPr lang="en-US" altLang="ko-KR" sz="800" b="1" i="0" u="none" strike="noStrike" kern="100" baseline="0">
                <a:latin typeface="Arial" panose="020B0604020202020204" pitchFamily="34" charset="0"/>
                <a:ea typeface="Malgun Gothic" panose="020B0503020000020004" pitchFamily="34" charset="-127"/>
              </a:rPr>
              <a:t>}}}</a:t>
            </a:r>
            <a:endParaRPr lang="en-US" sz="800" b="1" i="0" u="none" strike="noStrike" kern="100" baseline="0">
              <a:solidFill>
                <a:srgbClr val="000000"/>
              </a:solidFill>
              <a:latin typeface="Arial" panose="020B0604020202020204" pitchFamily="34" charset="0"/>
            </a:endParaRPr>
          </a:p>
          <a:p>
            <a:pPr defTabSz="182880" rtl="0">
              <a:spcAft>
                <a:spcPts val="600"/>
              </a:spcAft>
            </a:pPr>
            <a:r>
              <a:rPr lang="en-US" sz="800" b="1" kern="100">
                <a:solidFill>
                  <a:srgbClr val="000000"/>
                </a:solidFill>
                <a:latin typeface="Arial" panose="020B0604020202020204" pitchFamily="34" charset="0"/>
              </a:rPr>
              <a:t>	</a:t>
            </a:r>
            <a:r>
              <a:rPr lang="en-US" sz="800" i="0" u="none" strike="noStrike" kern="100" baseline="0">
                <a:solidFill>
                  <a:srgbClr val="000000"/>
                </a:solidFill>
                <a:latin typeface="Arial" panose="020B0604020202020204" pitchFamily="34" charset="0"/>
              </a:rPr>
              <a:t>C</a:t>
            </a:r>
            <a:r>
              <a:rPr lang="en-US" altLang="ko-KR" sz="800" kern="100">
                <a:latin typeface="Arial" panose="020B0604020202020204" pitchFamily="34" charset="0"/>
                <a:ea typeface="Malgun Gothic" panose="020B0503020000020004" pitchFamily="34" charset="-127"/>
              </a:rPr>
              <a:t>utoff_List = </a:t>
            </a:r>
            <a:r>
              <a:rPr lang="en-US" sz="800" kern="100">
                <a:solidFill>
                  <a:srgbClr val="000000"/>
                </a:solidFill>
                <a:latin typeface="Arial" panose="020B0604020202020204" pitchFamily="34" charset="0"/>
              </a:rPr>
              <a:t>S</a:t>
            </a:r>
            <a:r>
              <a:rPr lang="en-US" altLang="ko-KR" sz="800" kern="100">
                <a:latin typeface="Arial" panose="020B0604020202020204" pitchFamily="34" charset="0"/>
                <a:ea typeface="Malgun Gothic" panose="020B0503020000020004" pitchFamily="34" charset="-127"/>
              </a:rPr>
              <a:t>ort(POD_List, priority)</a:t>
            </a:r>
            <a:endParaRPr lang="en-US" altLang="ko-KR" sz="800" kern="100">
              <a:solidFill>
                <a:srgbClr val="000000"/>
              </a:solidFill>
              <a:latin typeface="Arial" panose="020B0604020202020204" pitchFamily="34" charset="0"/>
            </a:endParaRPr>
          </a:p>
          <a:p>
            <a:pPr defTabSz="182880" rtl="0">
              <a:spcAft>
                <a:spcPts val="600"/>
              </a:spcAft>
            </a:pPr>
            <a:r>
              <a:rPr lang="en-US" altLang="ko-KR" sz="800" b="1" i="0" u="none" strike="noStrike" kern="100" baseline="0">
                <a:solidFill>
                  <a:srgbClr val="000000"/>
                </a:solidFill>
                <a:latin typeface="Arial" panose="020B0604020202020204" pitchFamily="34" charset="0"/>
                <a:ea typeface="Malgun Gothic" panose="020B0503020000020004" pitchFamily="34" charset="-127"/>
              </a:rPr>
              <a:t>	</a:t>
            </a:r>
            <a:r>
              <a:rPr lang="en-US" altLang="ko-KR" sz="800" b="1" i="0" u="none" strike="noStrike" kern="100" baseline="0">
                <a:latin typeface="Arial" panose="020B0604020202020204" pitchFamily="34" charset="0"/>
                <a:ea typeface="Malgun Gothic" panose="020B0503020000020004" pitchFamily="34" charset="-127"/>
              </a:rPr>
              <a:t>For </a:t>
            </a:r>
            <a:r>
              <a:rPr lang="en-US" altLang="ko-KR" sz="800" b="1" kern="100">
                <a:latin typeface="Arial" panose="020B0604020202020204" pitchFamily="34" charset="0"/>
                <a:ea typeface="Malgun Gothic" panose="020B0503020000020004" pitchFamily="34" charset="-127"/>
              </a:rPr>
              <a:t>POD_i </a:t>
            </a:r>
            <a:r>
              <a:rPr lang="en-US" altLang="ko-KR" sz="800" b="1" i="0" u="none" strike="noStrike" kern="100" baseline="0">
                <a:latin typeface="Arial" panose="020B0604020202020204" pitchFamily="34" charset="0"/>
                <a:ea typeface="Malgun Gothic" panose="020B0503020000020004" pitchFamily="34" charset="-127"/>
              </a:rPr>
              <a:t>in Cutoff_List</a:t>
            </a:r>
            <a:r>
              <a:rPr lang="en-US" altLang="ko-KR" sz="800" b="0" i="0" u="none" strike="noStrike" kern="100" baseline="0">
                <a:latin typeface="Arial" panose="020B0604020202020204" pitchFamily="34" charset="0"/>
                <a:ea typeface="Malgun Gothic" panose="020B0503020000020004" pitchFamily="34" charset="-127"/>
              </a:rPr>
              <a:t> </a:t>
            </a:r>
            <a:r>
              <a:rPr lang="en-US" altLang="ko-KR" sz="800" b="1" i="0" u="none" strike="noStrike" kern="100" baseline="0">
                <a:latin typeface="Arial" panose="020B0604020202020204" pitchFamily="34" charset="0"/>
                <a:ea typeface="Malgun Gothic" panose="020B0503020000020004" pitchFamily="34" charset="-127"/>
              </a:rPr>
              <a:t>{</a:t>
            </a:r>
          </a:p>
          <a:p>
            <a:pPr defTabSz="182880">
              <a:spcAft>
                <a:spcPts val="600"/>
              </a:spcAft>
            </a:pPr>
            <a:r>
              <a:rPr lang="en-US" altLang="ko-KR" sz="800" b="1" kern="100">
                <a:latin typeface="Arial" panose="020B0604020202020204" pitchFamily="34" charset="0"/>
                <a:ea typeface="Malgun Gothic" panose="020B0503020000020004" pitchFamily="34" charset="-127"/>
              </a:rPr>
              <a:t>		If Cutoff_List(</a:t>
            </a:r>
            <a:r>
              <a:rPr lang="en-US" altLang="ko-KR" sz="800" b="1" i="0" u="none" strike="noStrike" kern="100" baseline="0">
                <a:latin typeface="Arial" panose="020B0604020202020204" pitchFamily="34" charset="0"/>
                <a:ea typeface="Malgun Gothic" panose="020B0503020000020004" pitchFamily="34" charset="-127"/>
              </a:rPr>
              <a:t>POD_i, Deficit)&gt; 0 { 																																																</a:t>
            </a:r>
            <a:r>
              <a:rPr lang="en-US" altLang="ko-KR" sz="800" i="1" kern="100">
                <a:latin typeface="Arial" panose="020B0604020202020204" pitchFamily="34" charset="0"/>
                <a:ea typeface="Malgun Gothic" panose="020B0503020000020004" pitchFamily="34" charset="-127"/>
              </a:rPr>
              <a:t># Deficit &gt; 0.</a:t>
            </a:r>
          </a:p>
          <a:p>
            <a:pPr defTabSz="182880" rtl="0">
              <a:spcAft>
                <a:spcPts val="600"/>
              </a:spcAft>
            </a:pPr>
            <a:r>
              <a:rPr lang="en-US" altLang="ko-KR" sz="800" b="1" kern="100">
                <a:latin typeface="Arial" panose="020B0604020202020204" pitchFamily="34" charset="0"/>
                <a:ea typeface="Malgun Gothic" panose="020B0503020000020004" pitchFamily="34" charset="-127"/>
              </a:rPr>
              <a:t>			</a:t>
            </a:r>
            <a:r>
              <a:rPr lang="en-US" altLang="ko-KR" sz="800" b="1" i="0" u="none" strike="noStrike" kern="100" baseline="0">
                <a:latin typeface="Arial" panose="020B0604020202020204" pitchFamily="34" charset="0"/>
                <a:ea typeface="Malgun Gothic" panose="020B0503020000020004" pitchFamily="34" charset="-127"/>
              </a:rPr>
              <a:t>Continue }</a:t>
            </a:r>
          </a:p>
          <a:p>
            <a:pPr defTabSz="182880" rtl="0">
              <a:spcAft>
                <a:spcPts val="600"/>
              </a:spcAft>
            </a:pPr>
            <a:r>
              <a:rPr lang="en-US" altLang="ko-KR" sz="800" kern="100">
                <a:latin typeface="Arial" panose="020B0604020202020204" pitchFamily="34" charset="0"/>
                <a:ea typeface="Malgun Gothic" panose="020B0503020000020004" pitchFamily="34" charset="-127"/>
              </a:rPr>
              <a:t>		</a:t>
            </a:r>
            <a:r>
              <a:rPr lang="en-US" altLang="ko-KR" sz="800" b="1" i="0" u="none" strike="noStrike" kern="100" baseline="0">
                <a:latin typeface="Arial" panose="020B0604020202020204" pitchFamily="34" charset="0"/>
                <a:ea typeface="Malgun Gothic" panose="020B0503020000020004" pitchFamily="34" charset="-127"/>
              </a:rPr>
              <a:t>For POD_J in Cutoff_List(POD_i : end, 1)</a:t>
            </a:r>
          </a:p>
          <a:p>
            <a:pPr defTabSz="182880">
              <a:spcAft>
                <a:spcPts val="600"/>
              </a:spcAft>
            </a:pPr>
            <a:r>
              <a:rPr lang="en-US" altLang="ko-KR" sz="800" b="1" kern="100">
                <a:latin typeface="Arial" panose="020B0604020202020204" pitchFamily="34" charset="0"/>
                <a:ea typeface="Malgun Gothic" panose="020B0503020000020004" pitchFamily="34" charset="-127"/>
              </a:rPr>
              <a:t>			</a:t>
            </a:r>
            <a:r>
              <a:rPr lang="en-US" altLang="ko-KR" sz="800" b="1" i="0" u="none" strike="noStrike" kern="100" baseline="0">
                <a:latin typeface="Arial" panose="020B0604020202020204" pitchFamily="34" charset="0"/>
                <a:ea typeface="Malgun Gothic" panose="020B0503020000020004" pitchFamily="34" charset="-127"/>
              </a:rPr>
              <a:t>if (check_if_upstream(POD_J, POD_i) </a:t>
            </a:r>
            <a:r>
              <a:rPr lang="en-US" altLang="ko-KR" sz="800" b="1" kern="100">
                <a:latin typeface="Arial" panose="020B0604020202020204" pitchFamily="34" charset="0"/>
                <a:ea typeface="Malgun Gothic" panose="020B0503020000020004" pitchFamily="34" charset="-127"/>
              </a:rPr>
              <a:t>&amp; check_if_protected(POD_J</a:t>
            </a:r>
            <a:r>
              <a:rPr lang="en-US" altLang="ko-KR" sz="800" b="1" i="0" u="none" strike="noStrike" kern="100" baseline="0">
                <a:latin typeface="Arial" panose="020B0604020202020204" pitchFamily="34" charset="0"/>
                <a:ea typeface="Malgun Gothic" panose="020B0503020000020004" pitchFamily="34" charset="-127"/>
              </a:rPr>
              <a:t> not in protected_types</a:t>
            </a:r>
            <a:r>
              <a:rPr lang="en-US" altLang="ko-KR" sz="800" b="1" kern="100">
                <a:latin typeface="Arial" panose="020B0604020202020204" pitchFamily="34" charset="0"/>
                <a:ea typeface="Malgun Gothic" panose="020B0503020000020004" pitchFamily="34" charset="-127"/>
              </a:rPr>
              <a:t>)</a:t>
            </a:r>
            <a:endParaRPr lang="en-US" altLang="ko-KR" sz="800" b="1" i="0" u="none" strike="noStrike" kern="100" baseline="0">
              <a:latin typeface="Arial" panose="020B0604020202020204" pitchFamily="34" charset="0"/>
              <a:ea typeface="Malgun Gothic" panose="020B0503020000020004" pitchFamily="34" charset="-127"/>
            </a:endParaRPr>
          </a:p>
          <a:p>
            <a:pPr defTabSz="182880" rtl="0">
              <a:spcAft>
                <a:spcPts val="600"/>
              </a:spcAft>
            </a:pPr>
            <a:r>
              <a:rPr lang="en-US" altLang="ko-KR" sz="800" b="1" i="0" u="none" strike="noStrike" kern="100" baseline="0">
                <a:latin typeface="Arial" panose="020B0604020202020204" pitchFamily="34" charset="0"/>
                <a:ea typeface="Malgun Gothic" panose="020B0503020000020004" pitchFamily="34" charset="-127"/>
              </a:rPr>
              <a:t>				</a:t>
            </a:r>
            <a:r>
              <a:rPr lang="en-US" altLang="ko-KR" sz="800" i="0" u="none" strike="noStrike" kern="100" baseline="0">
                <a:latin typeface="Arial" panose="020B0604020202020204" pitchFamily="34" charset="0"/>
                <a:ea typeface="Malgun Gothic" panose="020B0503020000020004" pitchFamily="34" charset="-127"/>
              </a:rPr>
              <a:t>candidates.append((POD_J, POD_i) </a:t>
            </a:r>
          </a:p>
          <a:p>
            <a:pPr defTabSz="182880" rtl="0">
              <a:spcAft>
                <a:spcPts val="600"/>
              </a:spcAft>
            </a:pPr>
            <a:r>
              <a:rPr lang="en-US" altLang="ko-KR" sz="800" b="1" kern="100">
                <a:latin typeface="Arial" panose="020B0604020202020204" pitchFamily="34" charset="0"/>
                <a:ea typeface="Malgun Gothic" panose="020B0503020000020004" pitchFamily="34" charset="-127"/>
              </a:rPr>
              <a:t>			F</a:t>
            </a:r>
            <a:r>
              <a:rPr lang="en-US" altLang="ko-KR" sz="800" b="1" i="0" u="none" strike="noStrike" kern="100" baseline="0">
                <a:latin typeface="Arial" panose="020B0604020202020204" pitchFamily="34" charset="0"/>
                <a:ea typeface="Malgun Gothic" panose="020B0503020000020004" pitchFamily="34" charset="-127"/>
              </a:rPr>
              <a:t>or j_idx in candidates (:, POD_i) {</a:t>
            </a:r>
          </a:p>
          <a:p>
            <a:pPr defTabSz="182880">
              <a:spcAft>
                <a:spcPts val="600"/>
              </a:spcAft>
            </a:pPr>
            <a:r>
              <a:rPr lang="en-US" altLang="ko-KR" sz="800" b="1" kern="100">
                <a:latin typeface="Arial" panose="020B0604020202020204" pitchFamily="34" charset="0"/>
                <a:ea typeface="Malgun Gothic" panose="020B0503020000020004" pitchFamily="34" charset="-127"/>
              </a:rPr>
              <a:t>				If Cutoff_List(POD_i, Deficit) </a:t>
            </a:r>
            <a:r>
              <a:rPr lang="en-US" altLang="ko-KR" sz="800" b="1" i="0" u="none" strike="noStrike" kern="100" baseline="0">
                <a:latin typeface="Arial" panose="020B0604020202020204" pitchFamily="34" charset="0"/>
                <a:ea typeface="Malgun Gothic" panose="020B0503020000020004" pitchFamily="34" charset="-127"/>
              </a:rPr>
              <a:t>&lt;= 0 {</a:t>
            </a:r>
          </a:p>
          <a:p>
            <a:pPr defTabSz="182880" rtl="0">
              <a:spcAft>
                <a:spcPts val="600"/>
              </a:spcAft>
            </a:pPr>
            <a:r>
              <a:rPr lang="en-US" altLang="ko-KR" sz="800" b="1" kern="100">
                <a:latin typeface="Arial" panose="020B0604020202020204" pitchFamily="34" charset="0"/>
                <a:ea typeface="Malgun Gothic" panose="020B0503020000020004" pitchFamily="34" charset="-127"/>
              </a:rPr>
              <a:t>					</a:t>
            </a:r>
            <a:r>
              <a:rPr lang="en-US" altLang="ko-KR" sz="800" b="1" i="0" u="none" strike="noStrike" kern="100" baseline="0">
                <a:latin typeface="Arial" panose="020B0604020202020204" pitchFamily="34" charset="0"/>
                <a:ea typeface="Malgun Gothic" panose="020B0503020000020004" pitchFamily="34" charset="-127"/>
              </a:rPr>
              <a:t>Break }</a:t>
            </a:r>
          </a:p>
          <a:p>
            <a:pPr defTabSz="182880">
              <a:spcAft>
                <a:spcPts val="600"/>
              </a:spcAft>
            </a:pPr>
            <a:r>
              <a:rPr lang="en-US" altLang="ko-KR" sz="800" b="1" kern="100">
                <a:latin typeface="Arial" panose="020B0604020202020204" pitchFamily="34" charset="0"/>
                <a:ea typeface="Malgun Gothic" panose="020B0503020000020004" pitchFamily="34" charset="-127"/>
              </a:rPr>
              <a:t>				I</a:t>
            </a:r>
            <a:r>
              <a:rPr lang="en-US" altLang="ko-KR" sz="800" b="1" i="0" u="none" strike="noStrike" kern="100" baseline="0">
                <a:latin typeface="Arial" panose="020B0604020202020204" pitchFamily="34" charset="0"/>
                <a:ea typeface="Malgun Gothic" panose="020B0503020000020004" pitchFamily="34" charset="-127"/>
              </a:rPr>
              <a:t>f Cutoff_Lis</a:t>
            </a:r>
            <a:r>
              <a:rPr lang="en-US" altLang="ko-KR" sz="800" b="1" kern="100">
                <a:latin typeface="Arial" panose="020B0604020202020204" pitchFamily="34" charset="0"/>
                <a:ea typeface="Malgun Gothic" panose="020B0503020000020004" pitchFamily="34" charset="-127"/>
              </a:rPr>
              <a:t>t(</a:t>
            </a:r>
            <a:r>
              <a:rPr lang="en-US" altLang="ko-KR" sz="800" b="1" i="0" u="none" strike="noStrike" kern="100" baseline="0">
                <a:latin typeface="Arial" panose="020B0604020202020204" pitchFamily="34" charset="0"/>
                <a:ea typeface="Malgun Gothic" panose="020B0503020000020004" pitchFamily="34" charset="-127"/>
              </a:rPr>
              <a:t>j_idx, </a:t>
            </a:r>
            <a:r>
              <a:rPr lang="en-US" altLang="ko-KR" sz="800" b="1" kern="100">
                <a:latin typeface="Arial" panose="020B0604020202020204" pitchFamily="34" charset="0"/>
              </a:rPr>
              <a:t>Maximum_Volume_Allowed</a:t>
            </a:r>
            <a:r>
              <a:rPr lang="en-US" altLang="ko-KR" sz="800" b="1" kern="100">
                <a:latin typeface="Arial" panose="020B0604020202020204" pitchFamily="34" charset="0"/>
                <a:ea typeface="Malgun Gothic" panose="020B0503020000020004" pitchFamily="34" charset="-127"/>
              </a:rPr>
              <a:t>)</a:t>
            </a:r>
            <a:r>
              <a:rPr lang="en-US" altLang="ko-KR" sz="800" b="1" i="0" u="none" strike="noStrike" kern="100" baseline="0">
                <a:latin typeface="Arial" panose="020B0604020202020204" pitchFamily="34" charset="0"/>
                <a:ea typeface="Malgun Gothic" panose="020B0503020000020004" pitchFamily="34" charset="-127"/>
              </a:rPr>
              <a:t> &lt;= Cutoff_List(i, deficit)</a:t>
            </a:r>
          </a:p>
          <a:p>
            <a:pPr defTabSz="182880">
              <a:spcAft>
                <a:spcPts val="600"/>
              </a:spcAft>
            </a:pPr>
            <a:r>
              <a:rPr lang="en-US" altLang="ko-KR" sz="800" b="1" kern="100">
                <a:latin typeface="Arial" panose="020B0604020202020204" pitchFamily="34" charset="0"/>
                <a:ea typeface="Malgun Gothic" panose="020B0503020000020004" pitchFamily="34" charset="-127"/>
              </a:rPr>
              <a:t>					</a:t>
            </a:r>
            <a:r>
              <a:rPr lang="en-US" altLang="ko-KR" sz="800" kern="100">
                <a:latin typeface="Arial" panose="020B0604020202020204" pitchFamily="34" charset="0"/>
                <a:ea typeface="Malgun Gothic" panose="020B0503020000020004" pitchFamily="34" charset="-127"/>
              </a:rPr>
              <a:t>Cutoff_List(i, deficit) = Cutoff_List(i, deficit)</a:t>
            </a:r>
            <a:r>
              <a:rPr lang="en-US" altLang="ko-KR" sz="800" i="0" u="none" strike="noStrike" kern="100" baseline="0">
                <a:latin typeface="Arial" panose="020B0604020202020204" pitchFamily="34" charset="0"/>
                <a:ea typeface="Malgun Gothic" panose="020B0503020000020004" pitchFamily="34" charset="-127"/>
              </a:rPr>
              <a:t> </a:t>
            </a:r>
            <a:r>
              <a:rPr lang="en-US" altLang="ko-KR" sz="800" kern="100">
                <a:latin typeface="Arial" panose="020B0604020202020204" pitchFamily="34" charset="0"/>
                <a:ea typeface="Malgun Gothic" panose="020B0503020000020004" pitchFamily="34" charset="-127"/>
              </a:rPr>
              <a:t>- Cutoff_List(j_idx, </a:t>
            </a:r>
            <a:r>
              <a:rPr lang="en-US" altLang="ko-KR" sz="800" kern="100">
                <a:latin typeface="Arial" panose="020B0604020202020204" pitchFamily="34" charset="0"/>
              </a:rPr>
              <a:t>Maximum_Volume_Allowed</a:t>
            </a:r>
            <a:r>
              <a:rPr lang="en-US" altLang="ko-KR" sz="800" kern="100">
                <a:latin typeface="Arial" panose="020B0604020202020204" pitchFamily="34" charset="0"/>
                <a:ea typeface="Malgun Gothic" panose="020B0503020000020004" pitchFamily="34" charset="-127"/>
              </a:rPr>
              <a:t>)</a:t>
            </a:r>
          </a:p>
          <a:p>
            <a:pPr defTabSz="182880">
              <a:spcAft>
                <a:spcPts val="600"/>
              </a:spcAft>
            </a:pPr>
            <a:r>
              <a:rPr lang="en-US" altLang="ko-KR" sz="800" kern="100">
                <a:latin typeface="Arial" panose="020B0604020202020204" pitchFamily="34" charset="0"/>
                <a:ea typeface="Malgun Gothic" panose="020B0503020000020004" pitchFamily="34" charset="-127"/>
              </a:rPr>
              <a:t>					Cutoff_List(j_idx, </a:t>
            </a:r>
            <a:r>
              <a:rPr lang="en-US" altLang="ko-KR" sz="800" kern="100">
                <a:latin typeface="Arial" panose="020B0604020202020204" pitchFamily="34" charset="0"/>
              </a:rPr>
              <a:t>Maximum_Volume_Allowed</a:t>
            </a:r>
            <a:r>
              <a:rPr lang="en-US" altLang="ko-KR" sz="800" kern="100">
                <a:latin typeface="Arial" panose="020B0604020202020204" pitchFamily="34" charset="0"/>
                <a:ea typeface="Malgun Gothic" panose="020B0503020000020004" pitchFamily="34" charset="-127"/>
              </a:rPr>
              <a:t>) </a:t>
            </a:r>
            <a:r>
              <a:rPr lang="en-US" altLang="ko-KR" sz="800" i="0" u="none" strike="noStrike" kern="100" baseline="0">
                <a:latin typeface="Arial" panose="020B0604020202020204" pitchFamily="34" charset="0"/>
                <a:ea typeface="Malgun Gothic" panose="020B0503020000020004" pitchFamily="34" charset="-127"/>
              </a:rPr>
              <a:t>= 0 </a:t>
            </a:r>
            <a:r>
              <a:rPr lang="en-US" altLang="ko-KR" sz="800" b="1" i="0" u="none" strike="noStrike" kern="100" baseline="0">
                <a:latin typeface="Arial" panose="020B0604020202020204" pitchFamily="34" charset="0"/>
                <a:ea typeface="Malgun Gothic" panose="020B0503020000020004" pitchFamily="34" charset="-127"/>
              </a:rPr>
              <a:t>																																					</a:t>
            </a:r>
            <a:r>
              <a:rPr lang="en-US" altLang="ko-KR" sz="800" i="1" kern="100">
                <a:latin typeface="Arial" panose="020B0604020202020204" pitchFamily="34" charset="0"/>
                <a:ea typeface="Malgun Gothic" panose="020B0503020000020004" pitchFamily="34" charset="-127"/>
              </a:rPr>
              <a:t># Set junior withdrawal to 0.</a:t>
            </a:r>
          </a:p>
          <a:p>
            <a:pPr defTabSz="182880">
              <a:spcAft>
                <a:spcPts val="600"/>
              </a:spcAft>
            </a:pPr>
            <a:r>
              <a:rPr lang="en-US" altLang="ko-KR" sz="800" b="1" i="0" u="none" strike="noStrike" kern="100" baseline="0">
                <a:latin typeface="Arial" panose="020B0604020202020204" pitchFamily="34" charset="0"/>
                <a:ea typeface="Malgun Gothic" panose="020B0503020000020004" pitchFamily="34" charset="-127"/>
              </a:rPr>
              <a:t>            		Else:</a:t>
            </a:r>
          </a:p>
          <a:p>
            <a:pPr defTabSz="182880"/>
            <a:r>
              <a:rPr lang="en-US" altLang="ko-KR" sz="800" b="1" i="0" u="none" strike="noStrike" kern="100" baseline="0">
                <a:latin typeface="Arial" panose="020B0604020202020204" pitchFamily="34" charset="0"/>
                <a:ea typeface="Malgun Gothic" panose="020B0503020000020004" pitchFamily="34" charset="-127"/>
              </a:rPr>
              <a:t>	</a:t>
            </a:r>
            <a:r>
              <a:rPr lang="en-US" altLang="ko-KR" sz="800" kern="100">
                <a:latin typeface="Arial" panose="020B0604020202020204" pitchFamily="34" charset="0"/>
                <a:ea typeface="Malgun Gothic" panose="020B0503020000020004" pitchFamily="34" charset="-127"/>
              </a:rPr>
              <a:t>Cutoff_List(j_idx, </a:t>
            </a:r>
            <a:r>
              <a:rPr lang="en-US" altLang="ko-KR" sz="800" kern="100">
                <a:latin typeface="Arial" panose="020B0604020202020204" pitchFamily="34" charset="0"/>
              </a:rPr>
              <a:t>Maximum_Volume_Allowed</a:t>
            </a:r>
            <a:r>
              <a:rPr lang="en-US" altLang="ko-KR" sz="800" kern="100">
                <a:latin typeface="Arial" panose="020B0604020202020204" pitchFamily="34" charset="0"/>
                <a:ea typeface="Malgun Gothic" panose="020B0503020000020004" pitchFamily="34" charset="-127"/>
              </a:rPr>
              <a:t>) = Cutoff_List(j_idx, </a:t>
            </a:r>
            <a:r>
              <a:rPr lang="en-US" altLang="ko-KR" sz="800" kern="100">
                <a:latin typeface="Arial" panose="020B0604020202020204" pitchFamily="34" charset="0"/>
              </a:rPr>
              <a:t>Maximum_Volume_Allowed</a:t>
            </a:r>
            <a:r>
              <a:rPr lang="en-US" altLang="ko-KR" sz="800" kern="100">
                <a:latin typeface="Arial" panose="020B0604020202020204" pitchFamily="34" charset="0"/>
                <a:ea typeface="Malgun Gothic" panose="020B0503020000020004" pitchFamily="34" charset="-127"/>
              </a:rPr>
              <a:t>) - Cutoff_List(i, deficit)   																							# Decrease junior withdrawal.</a:t>
            </a:r>
          </a:p>
          <a:p>
            <a:pPr defTabSz="182880"/>
            <a:r>
              <a:rPr lang="en-US" altLang="ko-KR" sz="800" kern="100">
                <a:latin typeface="Arial" panose="020B0604020202020204" pitchFamily="34" charset="0"/>
                <a:ea typeface="Malgun Gothic" panose="020B0503020000020004" pitchFamily="34" charset="-127"/>
              </a:rPr>
              <a:t>	Cutoff_List(i, deficit) = 0	</a:t>
            </a:r>
          </a:p>
          <a:p>
            <a:pPr marR="0" algn="l" defTabSz="182880" rtl="0"/>
            <a:endParaRPr lang="en-US" altLang="ko-KR" sz="800" kern="100">
              <a:latin typeface="Arial" panose="020B0604020202020204" pitchFamily="34" charset="0"/>
              <a:ea typeface="Malgun Gothic" panose="020B0503020000020004" pitchFamily="34" charset="-127"/>
            </a:endParaRPr>
          </a:p>
          <a:p>
            <a:pPr defTabSz="182880"/>
            <a:r>
              <a:rPr lang="en-US" sz="800" b="1" kern="100">
                <a:latin typeface="Arial" panose="020B0604020202020204" pitchFamily="34" charset="0"/>
                <a:ea typeface="Malgun Gothic" panose="020B0503020000020004" pitchFamily="34" charset="-127"/>
              </a:rPr>
              <a:t>Return </a:t>
            </a:r>
            <a:r>
              <a:rPr lang="en-US" altLang="ko-KR" sz="800" kern="100">
                <a:latin typeface="Arial" panose="020B0604020202020204" pitchFamily="34" charset="0"/>
                <a:ea typeface="Malgun Gothic" panose="020B0503020000020004" pitchFamily="34" charset="-127"/>
              </a:rPr>
              <a:t>Cutoff_List</a:t>
            </a:r>
            <a:endParaRPr lang="en-US" altLang="ko-KR" sz="800" b="1" kern="100">
              <a:latin typeface="Arial" panose="020B0604020202020204" pitchFamily="34" charset="0"/>
              <a:ea typeface="Malgun Gothic" panose="020B0503020000020004" pitchFamily="34" charset="-127"/>
            </a:endParaRPr>
          </a:p>
        </p:txBody>
      </p:sp>
      <p:grpSp>
        <p:nvGrpSpPr>
          <p:cNvPr id="37" name="Group 36">
            <a:extLst>
              <a:ext uri="{FF2B5EF4-FFF2-40B4-BE49-F238E27FC236}">
                <a16:creationId xmlns:a16="http://schemas.microsoft.com/office/drawing/2014/main" id="{81A4A73A-F3FF-1548-0E23-1EBAD66461BE}"/>
              </a:ext>
            </a:extLst>
          </p:cNvPr>
          <p:cNvGrpSpPr/>
          <p:nvPr/>
        </p:nvGrpSpPr>
        <p:grpSpPr>
          <a:xfrm>
            <a:off x="1964965" y="1083715"/>
            <a:ext cx="8982897" cy="5159431"/>
            <a:chOff x="1964965" y="1083715"/>
            <a:chExt cx="8982897" cy="5159431"/>
          </a:xfrm>
        </p:grpSpPr>
        <p:cxnSp>
          <p:nvCxnSpPr>
            <p:cNvPr id="11" name="Straight Connector 10">
              <a:extLst>
                <a:ext uri="{FF2B5EF4-FFF2-40B4-BE49-F238E27FC236}">
                  <a16:creationId xmlns:a16="http://schemas.microsoft.com/office/drawing/2014/main" id="{E61A0131-76B3-D496-3DB1-895A1F8D4F9C}"/>
                </a:ext>
              </a:extLst>
            </p:cNvPr>
            <p:cNvCxnSpPr>
              <a:cxnSpLocks/>
            </p:cNvCxnSpPr>
            <p:nvPr/>
          </p:nvCxnSpPr>
          <p:spPr>
            <a:xfrm>
              <a:off x="2294702" y="1083715"/>
              <a:ext cx="7722135"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6ECCB964-7073-4E4C-C5AF-2AF97D91ED9E}"/>
                </a:ext>
              </a:extLst>
            </p:cNvPr>
            <p:cNvCxnSpPr>
              <a:cxnSpLocks/>
            </p:cNvCxnSpPr>
            <p:nvPr/>
          </p:nvCxnSpPr>
          <p:spPr>
            <a:xfrm>
              <a:off x="3328251" y="1269366"/>
              <a:ext cx="542505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0C7C2FB-C768-3550-CEA9-DCC2FF968875}"/>
                </a:ext>
              </a:extLst>
            </p:cNvPr>
            <p:cNvCxnSpPr>
              <a:cxnSpLocks/>
            </p:cNvCxnSpPr>
            <p:nvPr/>
          </p:nvCxnSpPr>
          <p:spPr>
            <a:xfrm>
              <a:off x="2424935" y="1671148"/>
              <a:ext cx="7591902"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AFBDC029-6BE1-0C3A-80FF-BA0E630F2220}"/>
                </a:ext>
              </a:extLst>
            </p:cNvPr>
            <p:cNvCxnSpPr>
              <a:cxnSpLocks/>
            </p:cNvCxnSpPr>
            <p:nvPr/>
          </p:nvCxnSpPr>
          <p:spPr>
            <a:xfrm>
              <a:off x="3391982" y="1873424"/>
              <a:ext cx="5361320"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2A50A0D1-70AE-360F-4B0E-683960C7A74F}"/>
                </a:ext>
              </a:extLst>
            </p:cNvPr>
            <p:cNvCxnSpPr>
              <a:cxnSpLocks/>
            </p:cNvCxnSpPr>
            <p:nvPr/>
          </p:nvCxnSpPr>
          <p:spPr>
            <a:xfrm>
              <a:off x="2089655" y="2258580"/>
              <a:ext cx="7927182"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6CA9CF55-39ED-F606-DCA5-F68F85028FEC}"/>
                </a:ext>
              </a:extLst>
            </p:cNvPr>
            <p:cNvCxnSpPr>
              <a:cxnSpLocks/>
            </p:cNvCxnSpPr>
            <p:nvPr/>
          </p:nvCxnSpPr>
          <p:spPr>
            <a:xfrm>
              <a:off x="3391982" y="2449773"/>
              <a:ext cx="5361320"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C7916D68-B106-A7DD-066C-4EB6B85E6722}"/>
                </a:ext>
              </a:extLst>
            </p:cNvPr>
            <p:cNvCxnSpPr>
              <a:cxnSpLocks/>
            </p:cNvCxnSpPr>
            <p:nvPr/>
          </p:nvCxnSpPr>
          <p:spPr>
            <a:xfrm>
              <a:off x="1964965" y="2868181"/>
              <a:ext cx="8201502"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0A3E7B56-5076-8A1F-2BC3-51803B76D2DE}"/>
                </a:ext>
              </a:extLst>
            </p:cNvPr>
            <p:cNvCxnSpPr>
              <a:cxnSpLocks/>
            </p:cNvCxnSpPr>
            <p:nvPr/>
          </p:nvCxnSpPr>
          <p:spPr>
            <a:xfrm>
              <a:off x="2399997" y="3860164"/>
              <a:ext cx="8547865"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F31A1918-74A6-3B26-4DD0-F8D44918CEF7}"/>
                </a:ext>
              </a:extLst>
            </p:cNvPr>
            <p:cNvCxnSpPr>
              <a:cxnSpLocks/>
            </p:cNvCxnSpPr>
            <p:nvPr/>
          </p:nvCxnSpPr>
          <p:spPr>
            <a:xfrm>
              <a:off x="3644135" y="5841364"/>
              <a:ext cx="6522332"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5F40E189-2112-AD74-26DD-7A4807255B91}"/>
                </a:ext>
              </a:extLst>
            </p:cNvPr>
            <p:cNvCxnSpPr>
              <a:cxnSpLocks/>
            </p:cNvCxnSpPr>
            <p:nvPr/>
          </p:nvCxnSpPr>
          <p:spPr>
            <a:xfrm>
              <a:off x="5891342" y="6243146"/>
              <a:ext cx="4125495" cy="0"/>
            </a:xfrm>
            <a:prstGeom prst="line">
              <a:avLst/>
            </a:prstGeom>
            <a:ln>
              <a:prstDash val="sysDot"/>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90544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CEC14-6F88-7B49-7359-AF28729A82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88E497C-94EE-FB0E-27BF-E17CECD14425}"/>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1 – Domestic from Channel</a:t>
            </a:r>
            <a:endParaRPr lang="en-US"/>
          </a:p>
        </p:txBody>
      </p:sp>
      <p:cxnSp>
        <p:nvCxnSpPr>
          <p:cNvPr id="7" name="Straight Connector 6">
            <a:extLst>
              <a:ext uri="{FF2B5EF4-FFF2-40B4-BE49-F238E27FC236}">
                <a16:creationId xmlns:a16="http://schemas.microsoft.com/office/drawing/2014/main" id="{90405C73-9CBB-B8B8-318A-D487FE3E87F3}"/>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AE579C81-6F2F-462A-BE99-29E79D89ACF0}"/>
              </a:ext>
            </a:extLst>
          </p:cNvPr>
          <p:cNvSpPr txBox="1"/>
          <p:nvPr/>
        </p:nvSpPr>
        <p:spPr>
          <a:xfrm>
            <a:off x="328654" y="835938"/>
            <a:ext cx="11304705" cy="5264454"/>
          </a:xfrm>
          <a:prstGeom prst="rect">
            <a:avLst/>
          </a:prstGeom>
          <a:noFill/>
        </p:spPr>
        <p:txBody>
          <a:bodyPr wrap="square">
            <a:spAutoFit/>
          </a:bodyPr>
          <a:lstStyle/>
          <a:p>
            <a:pPr defTabSz="182880">
              <a:lnSpc>
                <a:spcPct val="115000"/>
              </a:lnSpc>
              <a:spcAft>
                <a:spcPts val="600"/>
              </a:spcAft>
            </a:pPr>
            <a:r>
              <a:rPr lang="en-US" sz="1050" b="1" kern="100">
                <a:latin typeface="Arial" panose="020B0604020202020204" pitchFamily="34" charset="0"/>
                <a:cs typeface="Arial" panose="020B0604020202020204" pitchFamily="34" charset="0"/>
              </a:rPr>
              <a:t>Optional “Return Flow” Function</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If </a:t>
            </a:r>
            <a:r>
              <a:rPr lang="en-US" sz="1000" b="1" kern="100" err="1">
                <a:latin typeface="Arial" panose="020B0604020202020204" pitchFamily="34" charset="0"/>
                <a:cs typeface="Arial" panose="020B0604020202020204" pitchFamily="34" charset="0"/>
              </a:rPr>
              <a:t>Water_Use_code</a:t>
            </a:r>
            <a:r>
              <a:rPr lang="en-US" sz="1000" b="1" kern="100">
                <a:latin typeface="Arial" panose="020B0604020202020204" pitchFamily="34" charset="0"/>
                <a:cs typeface="Arial" panose="020B0604020202020204" pitchFamily="34" charset="0"/>
              </a:rPr>
              <a:t> == 1, 3, 10, 18, 21 {																		</a:t>
            </a:r>
            <a:r>
              <a:rPr lang="en-US" sz="1000" i="1" kern="100">
                <a:latin typeface="Arial" panose="020B0604020202020204" pitchFamily="34" charset="0"/>
                <a:ea typeface="Malgun Gothic" panose="020B0503020000020004" pitchFamily="34" charset="-127"/>
              </a:rPr>
              <a:t># Water remains within the channel or wetland complex, maintaining the mass balance of the reach.</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a:t>
            </a:r>
            <a:r>
              <a:rPr lang="en-US" sz="1000" kern="100" err="1">
                <a:latin typeface="Arial" panose="020B0604020202020204" pitchFamily="34" charset="0"/>
                <a:cs typeface="Arial" panose="020B0604020202020204" pitchFamily="34" charset="0"/>
              </a:rPr>
              <a:t>Receiving_Source</a:t>
            </a:r>
            <a:r>
              <a:rPr lang="en-US" sz="1000" kern="100">
                <a:latin typeface="Arial" panose="020B0604020202020204" pitchFamily="34" charset="0"/>
                <a:cs typeface="Arial" panose="020B0604020202020204" pitchFamily="34" charset="0"/>
              </a:rPr>
              <a:t> = 0 </a:t>
            </a:r>
            <a:r>
              <a:rPr lang="en-US" sz="1000" b="1" kern="100">
                <a:latin typeface="Arial" panose="020B0604020202020204" pitchFamily="34" charset="0"/>
                <a:cs typeface="Arial" panose="020B0604020202020204" pitchFamily="34" charset="0"/>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If </a:t>
            </a:r>
            <a:r>
              <a:rPr lang="en-US" sz="1000" b="1" kern="100" err="1">
                <a:latin typeface="Arial" panose="020B0604020202020204" pitchFamily="34" charset="0"/>
                <a:cs typeface="Arial" panose="020B0604020202020204" pitchFamily="34" charset="0"/>
              </a:rPr>
              <a:t>Water_Use_code</a:t>
            </a:r>
            <a:r>
              <a:rPr lang="en-US" sz="1000" b="1" kern="100">
                <a:latin typeface="Arial" panose="020B0604020202020204" pitchFamily="34" charset="0"/>
                <a:cs typeface="Arial" panose="020B0604020202020204" pitchFamily="34" charset="0"/>
              </a:rPr>
              <a:t> == 2, 8, 11, 14, 15, 23 {												 </a:t>
            </a:r>
            <a:r>
              <a:rPr lang="en-US" sz="1000" i="1" kern="100">
                <a:latin typeface="Arial" panose="020B0604020202020204" pitchFamily="34" charset="0"/>
                <a:ea typeface="Malgun Gothic" panose="020B0503020000020004" pitchFamily="34" charset="-127"/>
              </a:rPr>
              <a:t># </a:t>
            </a:r>
            <a:r>
              <a:rPr lang="en-US" altLang="ko-KR" sz="1000" i="1" kern="100">
                <a:latin typeface="Arial" panose="020B0604020202020204" pitchFamily="34" charset="0"/>
                <a:ea typeface="Malgun Gothic" panose="020B0503020000020004" pitchFamily="34" charset="-127"/>
              </a:rPr>
              <a:t>Used for agriculture or nature; a portion infiltrates into groundwater and consume via </a:t>
            </a:r>
            <a:r>
              <a:rPr lang="en-US" sz="1000" i="1" kern="100">
                <a:latin typeface="Arial" panose="020B0604020202020204" pitchFamily="34" charset="0"/>
                <a:ea typeface="Malgun Gothic" panose="020B0503020000020004" pitchFamily="34" charset="-127"/>
              </a:rPr>
              <a:t>crop evapotranspiration (ET)</a:t>
            </a:r>
            <a:r>
              <a:rPr lang="en-US" altLang="ko-KR" sz="1000" i="1" kern="100">
                <a:latin typeface="Arial" panose="020B0604020202020204" pitchFamily="34" charset="0"/>
                <a:ea typeface="Malgun Gothic" panose="020B0503020000020004" pitchFamily="34" charset="-127"/>
              </a:rPr>
              <a:t>.</a:t>
            </a:r>
            <a:endParaRPr lang="en-US" sz="1000" i="1" kern="100">
              <a:latin typeface="Arial" panose="020B0604020202020204" pitchFamily="34" charset="0"/>
              <a:ea typeface="Malgun Gothic" panose="020B0503020000020004" pitchFamily="34" charset="-127"/>
            </a:endParaRP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Receiving_Source</a:t>
            </a:r>
            <a:r>
              <a:rPr lang="en-US" sz="1000" kern="100">
                <a:latin typeface="Arial" panose="020B0604020202020204" pitchFamily="34" charset="0"/>
                <a:cs typeface="Arial" panose="020B0604020202020204" pitchFamily="34" charset="0"/>
              </a:rPr>
              <a:t> = 1 </a:t>
            </a:r>
            <a:r>
              <a:rPr lang="en-US" sz="1000" b="1" kern="100">
                <a:latin typeface="Arial" panose="020B0604020202020204" pitchFamily="34" charset="0"/>
                <a:cs typeface="Arial" panose="020B0604020202020204" pitchFamily="34" charset="0"/>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If </a:t>
            </a:r>
            <a:r>
              <a:rPr lang="en-US" sz="1000" b="1" kern="100" err="1">
                <a:latin typeface="Arial" panose="020B0604020202020204" pitchFamily="34" charset="0"/>
                <a:cs typeface="Arial" panose="020B0604020202020204" pitchFamily="34" charset="0"/>
              </a:rPr>
              <a:t>Water_Use_code</a:t>
            </a:r>
            <a:r>
              <a:rPr lang="en-US" sz="1000" b="1" kern="100">
                <a:latin typeface="Arial" panose="020B0604020202020204" pitchFamily="34" charset="0"/>
                <a:cs typeface="Arial" panose="020B0604020202020204" pitchFamily="34" charset="0"/>
              </a:rPr>
              <a:t> == 5, 6, 7, 12, 19 {  																								  		  								</a:t>
            </a:r>
            <a:r>
              <a:rPr lang="en-US" sz="1000" i="1" kern="100">
                <a:latin typeface="Arial" panose="020B0604020202020204" pitchFamily="34" charset="0"/>
                <a:ea typeface="Malgun Gothic" panose="020B0503020000020004" pitchFamily="34" charset="-127"/>
              </a:rPr>
              <a:t>#  </a:t>
            </a:r>
            <a:r>
              <a:rPr lang="en-US" altLang="ko-KR" sz="1000" i="1" kern="100">
                <a:latin typeface="Arial" panose="020B0604020202020204" pitchFamily="34" charset="0"/>
                <a:ea typeface="Malgun Gothic" panose="020B0503020000020004" pitchFamily="34" charset="-127"/>
              </a:rPr>
              <a:t>Used for human consumption; </a:t>
            </a:r>
            <a:r>
              <a:rPr lang="en-US" sz="1000" i="1" kern="100">
                <a:latin typeface="Arial" panose="020B0604020202020204" pitchFamily="34" charset="0"/>
                <a:ea typeface="Malgun Gothic" panose="020B0503020000020004" pitchFamily="34" charset="-127"/>
              </a:rPr>
              <a:t>no return flow.</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Receiving_Source</a:t>
            </a:r>
            <a:r>
              <a:rPr lang="en-US" sz="1000" kern="100">
                <a:latin typeface="Arial" panose="020B0604020202020204" pitchFamily="34" charset="0"/>
                <a:cs typeface="Arial" panose="020B0604020202020204" pitchFamily="34" charset="0"/>
              </a:rPr>
              <a:t> = 0 </a:t>
            </a:r>
            <a:r>
              <a:rPr lang="en-US" sz="1000" b="1" kern="100">
                <a:latin typeface="Arial" panose="020B0604020202020204" pitchFamily="34" charset="0"/>
                <a:cs typeface="Arial" panose="020B0604020202020204" pitchFamily="34" charset="0"/>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If </a:t>
            </a:r>
            <a:r>
              <a:rPr lang="en-US" sz="1000" b="1" kern="100" err="1">
                <a:latin typeface="Arial" panose="020B0604020202020204" pitchFamily="34" charset="0"/>
                <a:cs typeface="Arial" panose="020B0604020202020204" pitchFamily="34" charset="0"/>
              </a:rPr>
              <a:t>Water_Use_code</a:t>
            </a:r>
            <a:r>
              <a:rPr lang="en-US" sz="1000" b="1" kern="100">
                <a:latin typeface="Arial" panose="020B0604020202020204" pitchFamily="34" charset="0"/>
                <a:cs typeface="Arial" panose="020B0604020202020204" pitchFamily="34" charset="0"/>
              </a:rPr>
              <a:t> == 4, 13, 16, 17 { 																														</a:t>
            </a:r>
            <a:r>
              <a:rPr lang="en-US" sz="1000" i="1" kern="100">
                <a:latin typeface="Arial" panose="020B0604020202020204" pitchFamily="34" charset="0"/>
                <a:ea typeface="Malgun Gothic" panose="020B0503020000020004" pitchFamily="34" charset="-127"/>
              </a:rPr>
              <a:t># Used for Industrial and Energy Development; no return flow.</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a:t>
            </a:r>
            <a:r>
              <a:rPr lang="en-US" sz="1000" kern="100" err="1">
                <a:latin typeface="Arial" panose="020B0604020202020204" pitchFamily="34" charset="0"/>
                <a:ea typeface="Malgun Gothic" panose="020B0503020000020004" pitchFamily="34" charset="-127"/>
              </a:rPr>
              <a:t>Receiving_Source</a:t>
            </a:r>
            <a:r>
              <a:rPr lang="en-US" sz="1000" kern="100">
                <a:latin typeface="Arial" panose="020B0604020202020204" pitchFamily="34" charset="0"/>
                <a:ea typeface="Malgun Gothic" panose="020B0503020000020004" pitchFamily="34" charset="-127"/>
              </a:rPr>
              <a:t> = 0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If </a:t>
            </a:r>
            <a:r>
              <a:rPr lang="en-US" sz="1000" b="1" kern="100" err="1">
                <a:latin typeface="Arial" panose="020B0604020202020204" pitchFamily="34" charset="0"/>
                <a:cs typeface="Arial" panose="020B0604020202020204" pitchFamily="34" charset="0"/>
              </a:rPr>
              <a:t>Water_Use_code</a:t>
            </a:r>
            <a:r>
              <a:rPr lang="en-US" sz="1000" b="1" kern="100">
                <a:latin typeface="Arial" panose="020B0604020202020204" pitchFamily="34" charset="0"/>
                <a:cs typeface="Arial" panose="020B0604020202020204" pitchFamily="34" charset="0"/>
              </a:rPr>
              <a:t> == 9, 20, 22 {																															</a:t>
            </a:r>
            <a:r>
              <a:rPr lang="en-US" sz="1000" i="1" kern="100">
                <a:latin typeface="Arial" panose="020B0604020202020204" pitchFamily="34" charset="0"/>
                <a:ea typeface="Malgun Gothic" panose="020B0503020000020004" pitchFamily="34" charset="-127"/>
              </a:rPr>
              <a:t># Used for storage maintenance; no return flow.</a:t>
            </a: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ea typeface="Malgun Gothic" panose="020B0503020000020004" pitchFamily="34" charset="-127"/>
              </a:rPr>
              <a:t>Receiving_Source</a:t>
            </a:r>
            <a:r>
              <a:rPr lang="en-US" sz="1000" kern="100">
                <a:latin typeface="Arial" panose="020B0604020202020204" pitchFamily="34" charset="0"/>
                <a:ea typeface="Malgun Gothic" panose="020B0503020000020004" pitchFamily="34" charset="-127"/>
              </a:rPr>
              <a:t> = 0  </a:t>
            </a:r>
            <a:r>
              <a:rPr lang="en-US" sz="1000" b="1" kern="100">
                <a:latin typeface="Arial" panose="020B0604020202020204" pitchFamily="34" charset="0"/>
                <a:cs typeface="Arial" panose="020B0604020202020204" pitchFamily="34" charset="0"/>
              </a:rPr>
              <a:t>																																		</a:t>
            </a:r>
            <a:endParaRPr lang="en-US" sz="1000" i="1" kern="100">
              <a:latin typeface="Arial" panose="020B0604020202020204" pitchFamily="34" charset="0"/>
              <a:ea typeface="Malgun Gothic" panose="020B0503020000020004" pitchFamily="34" charset="-127"/>
            </a:endParaRPr>
          </a:p>
          <a:p>
            <a:pPr defTabSz="182880">
              <a:lnSpc>
                <a:spcPct val="115000"/>
              </a:lnSpc>
              <a:spcAft>
                <a:spcPts val="600"/>
              </a:spcAft>
            </a:pPr>
            <a:endParaRPr lang="en-US" sz="1000" b="1" kern="100">
              <a:latin typeface="Arial" panose="020B0604020202020204" pitchFamily="34" charset="0"/>
              <a:cs typeface="Arial" panose="020B0604020202020204" pitchFamily="34" charset="0"/>
            </a:endParaRPr>
          </a:p>
          <a:p>
            <a:pPr defTabSz="182880">
              <a:lnSpc>
                <a:spcPct val="115000"/>
              </a:lnSpc>
              <a:spcAft>
                <a:spcPts val="600"/>
              </a:spcAft>
            </a:pPr>
            <a:r>
              <a:rPr lang="en-US" sz="1000" b="1" kern="100">
                <a:latin typeface="Arial" panose="020B0604020202020204" pitchFamily="34" charset="0"/>
                <a:cs typeface="Arial" panose="020B0604020202020204" pitchFamily="34" charset="0"/>
              </a:rPr>
              <a:t>If </a:t>
            </a:r>
            <a:r>
              <a:rPr lang="en-US" sz="1000" b="1" kern="100" err="1">
                <a:latin typeface="Arial" panose="020B0604020202020204" pitchFamily="34" charset="0"/>
                <a:cs typeface="Arial" panose="020B0604020202020204" pitchFamily="34" charset="0"/>
              </a:rPr>
              <a:t>Receiving_Source</a:t>
            </a:r>
            <a:r>
              <a:rPr lang="en-US" sz="1000" b="1" kern="100">
                <a:latin typeface="Arial" panose="020B0604020202020204" pitchFamily="34" charset="0"/>
                <a:cs typeface="Arial" panose="020B0604020202020204" pitchFamily="34" charset="0"/>
              </a:rPr>
              <a:t> == 0</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Return_Flow</a:t>
            </a:r>
            <a:r>
              <a:rPr lang="en-US" sz="1000" kern="100">
                <a:latin typeface="Arial" panose="020B0604020202020204" pitchFamily="34" charset="0"/>
                <a:cs typeface="Arial" panose="020B0604020202020204" pitchFamily="34" charset="0"/>
              </a:rPr>
              <a:t> = 0																																			# </a:t>
            </a:r>
            <a:r>
              <a:rPr lang="en-US" sz="1000" i="1" kern="100">
                <a:latin typeface="Arial" panose="020B0604020202020204" pitchFamily="34" charset="0"/>
                <a:ea typeface="Malgun Gothic" panose="020B0503020000020004" pitchFamily="34" charset="-127"/>
              </a:rPr>
              <a:t>Water is permanently removed from the watershed balance.</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Elseif </a:t>
            </a:r>
            <a:r>
              <a:rPr lang="en-US" sz="1000" b="1" kern="100" err="1">
                <a:latin typeface="Arial" panose="020B0604020202020204" pitchFamily="34" charset="0"/>
                <a:cs typeface="Arial" panose="020B0604020202020204" pitchFamily="34" charset="0"/>
              </a:rPr>
              <a:t>Receiving_Source</a:t>
            </a:r>
            <a:r>
              <a:rPr lang="en-US" sz="1000" b="1" kern="100">
                <a:latin typeface="Arial" panose="020B0604020202020204" pitchFamily="34" charset="0"/>
                <a:cs typeface="Arial" panose="020B0604020202020204" pitchFamily="34" charset="0"/>
              </a:rPr>
              <a:t> == 1</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Return_Flow</a:t>
            </a:r>
            <a:r>
              <a:rPr lang="en-US" sz="1000" kern="100">
                <a:latin typeface="Arial" panose="020B0604020202020204" pitchFamily="34" charset="0"/>
                <a:cs typeface="Arial" panose="020B0604020202020204" pitchFamily="34" charset="0"/>
              </a:rPr>
              <a:t> = Withdrawal * </a:t>
            </a:r>
            <a:r>
              <a:rPr lang="en-US" sz="1000" kern="100" err="1">
                <a:latin typeface="Arial" panose="020B0604020202020204" pitchFamily="34" charset="0"/>
                <a:cs typeface="Arial" panose="020B0604020202020204" pitchFamily="34" charset="0"/>
              </a:rPr>
              <a:t>Return_Rate</a:t>
            </a:r>
            <a:r>
              <a:rPr lang="en-US" sz="1000"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A portion of water is re-introduced.</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cs typeface="Arial" panose="020B0604020202020204" pitchFamily="34" charset="0"/>
              </a:rPr>
              <a:t>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jday+time_delay</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jday+time_delay</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Return_Flow</a:t>
            </a:r>
            <a:r>
              <a:rPr lang="en-US" sz="1000"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Water is re-introduced to the original source after a time delay.</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Else (Receiving Type == 2)</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Return Flow = Withdrawal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Entire Water is re-introduced</a:t>
            </a:r>
            <a:r>
              <a:rPr lang="en-US" sz="1000" b="1" i="1" kern="100">
                <a:latin typeface="Arial" panose="020B0604020202020204" pitchFamily="34" charset="0"/>
                <a:ea typeface="Malgun Gothic" panose="020B0503020000020004" pitchFamily="34" charset="-127"/>
                <a:cs typeface="Arial" panose="020B0604020202020204" pitchFamily="34" charset="0"/>
              </a:rPr>
              <a:t>.</a:t>
            </a:r>
          </a:p>
          <a:p>
            <a:pPr defTabSz="182880">
              <a:lnSpc>
                <a:spcPct val="115000"/>
              </a:lnSpc>
              <a:spcAft>
                <a:spcPts val="600"/>
              </a:spcAft>
            </a:pPr>
            <a:r>
              <a:rPr lang="en-US" sz="1000" b="1" i="1" kern="100">
                <a:latin typeface="Arial" panose="020B0604020202020204" pitchFamily="34" charset="0"/>
                <a:ea typeface="Malgun Gothic" panose="020B0503020000020004" pitchFamily="34" charset="-127"/>
                <a:cs typeface="Arial" panose="020B0604020202020204" pitchFamily="34" charset="0"/>
              </a:rPr>
              <a:t>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day+time_delay</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return_source_id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day+time_delay</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return_source_id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Return_Flow</a:t>
            </a:r>
            <a:r>
              <a:rPr lang="en-US" sz="1000" kern="100">
                <a:latin typeface="Arial" panose="020B0604020202020204" pitchFamily="34" charset="0"/>
                <a:cs typeface="Arial" panose="020B0604020202020204" pitchFamily="34" charset="0"/>
              </a:rPr>
              <a:t>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Water is re-introduced to a specific designated source.</a:t>
            </a:r>
          </a:p>
        </p:txBody>
      </p:sp>
      <p:cxnSp>
        <p:nvCxnSpPr>
          <p:cNvPr id="4" name="Straight Connector 3">
            <a:extLst>
              <a:ext uri="{FF2B5EF4-FFF2-40B4-BE49-F238E27FC236}">
                <a16:creationId xmlns:a16="http://schemas.microsoft.com/office/drawing/2014/main" id="{3D9BBA76-3FD8-625C-D478-EE65BFBCC5EC}"/>
              </a:ext>
            </a:extLst>
          </p:cNvPr>
          <p:cNvCxnSpPr>
            <a:cxnSpLocks/>
          </p:cNvCxnSpPr>
          <p:nvPr/>
        </p:nvCxnSpPr>
        <p:spPr>
          <a:xfrm>
            <a:off x="2709947" y="1477184"/>
            <a:ext cx="3150524"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339E31B2-57FD-7C28-6AAA-A0EF8FFE25DD}"/>
              </a:ext>
            </a:extLst>
          </p:cNvPr>
          <p:cNvCxnSpPr>
            <a:cxnSpLocks/>
          </p:cNvCxnSpPr>
          <p:nvPr/>
        </p:nvCxnSpPr>
        <p:spPr>
          <a:xfrm>
            <a:off x="328654" y="3940522"/>
            <a:ext cx="11534692"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8D01A592-2AA0-2946-AF17-3ED8F70B15CA}"/>
              </a:ext>
            </a:extLst>
          </p:cNvPr>
          <p:cNvCxnSpPr>
            <a:cxnSpLocks/>
          </p:cNvCxnSpPr>
          <p:nvPr/>
        </p:nvCxnSpPr>
        <p:spPr>
          <a:xfrm>
            <a:off x="1590694" y="4443965"/>
            <a:ext cx="621495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E040F590-1719-0B02-5A74-F4B6F91FFBAB}"/>
              </a:ext>
            </a:extLst>
          </p:cNvPr>
          <p:cNvCxnSpPr>
            <a:cxnSpLocks/>
          </p:cNvCxnSpPr>
          <p:nvPr/>
        </p:nvCxnSpPr>
        <p:spPr>
          <a:xfrm>
            <a:off x="2984269" y="4929510"/>
            <a:ext cx="6339613"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4438C9CA-74DD-3D21-C430-2F1C27F73EC2}"/>
              </a:ext>
            </a:extLst>
          </p:cNvPr>
          <p:cNvCxnSpPr>
            <a:cxnSpLocks/>
          </p:cNvCxnSpPr>
          <p:nvPr/>
        </p:nvCxnSpPr>
        <p:spPr>
          <a:xfrm>
            <a:off x="6697058" y="5178755"/>
            <a:ext cx="947926"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FCCDC33-AD3A-A85F-CD2E-94948824DA94}"/>
              </a:ext>
            </a:extLst>
          </p:cNvPr>
          <p:cNvCxnSpPr>
            <a:cxnSpLocks/>
          </p:cNvCxnSpPr>
          <p:nvPr/>
        </p:nvCxnSpPr>
        <p:spPr>
          <a:xfrm>
            <a:off x="2984269" y="1995343"/>
            <a:ext cx="2003366"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0E2D309C-8DEA-7B3E-8EDB-13E99EF9F0C0}"/>
              </a:ext>
            </a:extLst>
          </p:cNvPr>
          <p:cNvCxnSpPr>
            <a:cxnSpLocks/>
          </p:cNvCxnSpPr>
          <p:nvPr/>
        </p:nvCxnSpPr>
        <p:spPr>
          <a:xfrm>
            <a:off x="2657300" y="2496879"/>
            <a:ext cx="6087689"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3BB0A12A-CEFD-0ABE-88DB-CEA3205F851A}"/>
              </a:ext>
            </a:extLst>
          </p:cNvPr>
          <p:cNvCxnSpPr>
            <a:cxnSpLocks/>
          </p:cNvCxnSpPr>
          <p:nvPr/>
        </p:nvCxnSpPr>
        <p:spPr>
          <a:xfrm>
            <a:off x="2576939" y="2990101"/>
            <a:ext cx="5228712"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333CECC9-C866-6B77-4CCB-987D94A9E456}"/>
              </a:ext>
            </a:extLst>
          </p:cNvPr>
          <p:cNvCxnSpPr>
            <a:cxnSpLocks/>
          </p:cNvCxnSpPr>
          <p:nvPr/>
        </p:nvCxnSpPr>
        <p:spPr>
          <a:xfrm>
            <a:off x="2402378" y="3488864"/>
            <a:ext cx="5403273"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90895D32-8170-1A4E-E13F-3A39F585320F}"/>
              </a:ext>
            </a:extLst>
          </p:cNvPr>
          <p:cNvCxnSpPr>
            <a:cxnSpLocks/>
          </p:cNvCxnSpPr>
          <p:nvPr/>
        </p:nvCxnSpPr>
        <p:spPr>
          <a:xfrm>
            <a:off x="2146069" y="5691510"/>
            <a:ext cx="751863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69F99224-E1B0-F3A2-0776-EF271894FA9F}"/>
              </a:ext>
            </a:extLst>
          </p:cNvPr>
          <p:cNvCxnSpPr>
            <a:cxnSpLocks/>
          </p:cNvCxnSpPr>
          <p:nvPr/>
        </p:nvCxnSpPr>
        <p:spPr>
          <a:xfrm>
            <a:off x="7446358" y="5928055"/>
            <a:ext cx="783242" cy="0"/>
          </a:xfrm>
          <a:prstGeom prst="line">
            <a:avLst/>
          </a:prstGeom>
          <a:ln>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0352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790E-FFA4-5A83-4F09-B2F7E37B5AAF}"/>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CE71E44-8798-0376-0E5A-54EAF1E1A4CF}"/>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90A5D0CC-3B47-9118-77A4-7E1591CAFB1B}"/>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2 – Instream from Channel</a:t>
            </a:r>
            <a:endParaRPr lang="en-US"/>
          </a:p>
        </p:txBody>
      </p:sp>
      <p:sp>
        <p:nvSpPr>
          <p:cNvPr id="3" name="TextBox 2">
            <a:extLst>
              <a:ext uri="{FF2B5EF4-FFF2-40B4-BE49-F238E27FC236}">
                <a16:creationId xmlns:a16="http://schemas.microsoft.com/office/drawing/2014/main" id="{8A4D7B7A-77DE-C34D-B25B-284613068413}"/>
              </a:ext>
            </a:extLst>
          </p:cNvPr>
          <p:cNvSpPr txBox="1"/>
          <p:nvPr/>
        </p:nvSpPr>
        <p:spPr>
          <a:xfrm>
            <a:off x="416719" y="1898015"/>
            <a:ext cx="10401300" cy="292516"/>
          </a:xfrm>
          <a:prstGeom prst="rect">
            <a:avLst/>
          </a:prstGeom>
          <a:noFill/>
        </p:spPr>
        <p:txBody>
          <a:bodyPr wrap="square">
            <a:spAutoFit/>
          </a:bodyPr>
          <a:lstStyle/>
          <a:p>
            <a:pPr marL="0" marR="0">
              <a:lnSpc>
                <a:spcPct val="115000"/>
              </a:lnSpc>
              <a:spcAft>
                <a:spcPts val="800"/>
              </a:spcAft>
              <a:buNone/>
            </a:pPr>
            <a:r>
              <a:rPr lang="en-US" sz="1200" b="1" kern="100">
                <a:effectLst/>
                <a:latin typeface="Arial" panose="020B0604020202020204" pitchFamily="34" charset="0"/>
                <a:ea typeface="Arial" panose="020B0604020202020204" pitchFamily="34" charset="0"/>
                <a:cs typeface="Arial" panose="020B0604020202020204" pitchFamily="34" charset="0"/>
              </a:rPr>
              <a:t>Func. Water_Allocation (POD_ID, Water_Use_Code, Source_type, Source_ID, ..., Maximum Volume Allowed)</a:t>
            </a:r>
            <a:endParaRPr lang="en-US" kern="100">
              <a:effectLst/>
              <a:latin typeface="Aptos" panose="020B0004020202020204" pitchFamily="34" charset="0"/>
              <a:ea typeface="Malgun Gothic" panose="020B0503020000020004" pitchFamily="34" charset="-127"/>
              <a:cs typeface="Arial" panose="020B0604020202020204" pitchFamily="34" charset="0"/>
            </a:endParaRPr>
          </a:p>
        </p:txBody>
      </p:sp>
      <p:sp>
        <p:nvSpPr>
          <p:cNvPr id="4" name="TextBox 3">
            <a:extLst>
              <a:ext uri="{FF2B5EF4-FFF2-40B4-BE49-F238E27FC236}">
                <a16:creationId xmlns:a16="http://schemas.microsoft.com/office/drawing/2014/main" id="{6D025330-8866-4C74-844C-8267E92E3D5D}"/>
              </a:ext>
            </a:extLst>
          </p:cNvPr>
          <p:cNvSpPr txBox="1"/>
          <p:nvPr/>
        </p:nvSpPr>
        <p:spPr>
          <a:xfrm>
            <a:off x="416719" y="2268671"/>
            <a:ext cx="11021594" cy="3683381"/>
          </a:xfrm>
          <a:prstGeom prst="rect">
            <a:avLst/>
          </a:prstGeom>
          <a:noFill/>
        </p:spPr>
        <p:txBody>
          <a:bodyPr wrap="square">
            <a:spAutoFit/>
          </a:bodyPr>
          <a:lstStyle/>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For Day in </a:t>
            </a:r>
            <a:r>
              <a:rPr lang="en-US" sz="1000" b="1" kern="100">
                <a:latin typeface="Arial" panose="020B0604020202020204" pitchFamily="34" charset="0"/>
                <a:ea typeface="Arial" panose="020B0604020202020204" pitchFamily="34" charset="0"/>
                <a:cs typeface="Arial" panose="020B0604020202020204" pitchFamily="34" charset="0"/>
              </a:rPr>
              <a:t>operation period</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kern="100">
                <a:latin typeface="Arial" panose="020B0604020202020204" pitchFamily="34" charset="0"/>
                <a:ea typeface="Malgun Gothic" panose="020B0503020000020004" pitchFamily="34" charset="-127"/>
                <a:cs typeface="Arial" panose="020B0604020202020204" pitchFamily="34" charset="0"/>
              </a:rPr>
              <a:t>Updated_</a:t>
            </a:r>
            <a:r>
              <a:rPr lang="en-US" sz="1000" kern="100">
                <a:latin typeface="Arial" panose="020B0604020202020204" pitchFamily="34" charset="0"/>
                <a:ea typeface="Arial" panose="020B0604020202020204" pitchFamily="34" charset="0"/>
                <a:cs typeface="Arial" panose="020B0604020202020204" pitchFamily="34" charset="0"/>
              </a:rPr>
              <a:t> Maximum_Volume_Allowed =</a:t>
            </a:r>
            <a:r>
              <a:rPr lang="en-US" sz="1000"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ea typeface="Malgun Gothic" panose="020B0503020000020004" pitchFamily="34" charset="-127"/>
                <a:cs typeface="Arial" panose="020B0604020202020204" pitchFamily="34" charset="0"/>
              </a:rPr>
              <a:t>Cut_off ()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For current POD_ID</a:t>
            </a:r>
          </a:p>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		</a:t>
            </a:r>
            <a:r>
              <a:rPr lang="en-US" sz="1000" kern="100">
                <a:effectLst/>
                <a:latin typeface="Arial" panose="020B0604020202020204" pitchFamily="34" charset="0"/>
                <a:ea typeface="Arial" panose="020B0604020202020204" pitchFamily="34" charset="0"/>
                <a:cs typeface="Arial" panose="020B0604020202020204" pitchFamily="34" charset="0"/>
              </a:rPr>
              <a:t>Maximum_Volume_Allowed(</a:t>
            </a:r>
            <a:r>
              <a:rPr lang="en-US" sz="1000" kern="100">
                <a:latin typeface="Arial" panose="020B0604020202020204" pitchFamily="34" charset="0"/>
                <a:cs typeface="Arial" panose="020B0604020202020204" pitchFamily="34" charset="0"/>
              </a:rPr>
              <a:t>current POD_ID, Day)</a:t>
            </a:r>
            <a:r>
              <a:rPr lang="en-US" sz="1000" kern="100">
                <a:effectLst/>
                <a:latin typeface="Arial" panose="020B0604020202020204" pitchFamily="34" charset="0"/>
                <a:ea typeface="Arial" panose="020B0604020202020204" pitchFamily="34" charset="0"/>
                <a:cs typeface="Arial" panose="020B0604020202020204" pitchFamily="34" charset="0"/>
              </a:rPr>
              <a:t> </a:t>
            </a:r>
            <a:r>
              <a:rPr lang="en-US" sz="1000" kern="100">
                <a:effectLst/>
                <a:latin typeface="Arial" panose="020B0604020202020204" pitchFamily="34" charset="0"/>
                <a:ea typeface="Malgun Gothic" panose="020B0503020000020004" pitchFamily="34" charset="-127"/>
                <a:cs typeface="Arial" panose="020B0604020202020204" pitchFamily="34" charset="0"/>
              </a:rPr>
              <a:t> = </a:t>
            </a:r>
            <a:r>
              <a:rPr lang="en-US" sz="1000" kern="100">
                <a:latin typeface="Arial" panose="020B0604020202020204" pitchFamily="34" charset="0"/>
                <a:ea typeface="Malgun Gothic" panose="020B0503020000020004" pitchFamily="34" charset="-127"/>
                <a:cs typeface="Arial" panose="020B0604020202020204" pitchFamily="34" charset="0"/>
              </a:rPr>
              <a:t>Updated_</a:t>
            </a:r>
            <a:r>
              <a:rPr lang="en-US" sz="1000" kern="100">
                <a:latin typeface="Arial" panose="020B0604020202020204" pitchFamily="34" charset="0"/>
                <a:ea typeface="Arial" panose="020B0604020202020204" pitchFamily="34" charset="0"/>
                <a:cs typeface="Arial" panose="020B0604020202020204" pitchFamily="34" charset="0"/>
              </a:rPr>
              <a:t> Maximum_Volume_Allowed (</a:t>
            </a:r>
            <a:r>
              <a:rPr lang="en-US" sz="1000" kern="100">
                <a:latin typeface="Arial" panose="020B0604020202020204" pitchFamily="34" charset="0"/>
                <a:cs typeface="Arial" panose="020B0604020202020204" pitchFamily="34" charset="0"/>
              </a:rPr>
              <a:t>current POD_ID</a:t>
            </a:r>
            <a:r>
              <a:rPr lang="en-US" sz="1000" kern="100">
                <a:latin typeface="Arial" panose="020B0604020202020204" pitchFamily="34" charset="0"/>
                <a:ea typeface="Arial" panose="020B0604020202020204" pitchFamily="34" charset="0"/>
                <a:cs typeface="Arial" panose="020B0604020202020204" pitchFamily="34" charset="0"/>
              </a:rPr>
              <a:t>)</a:t>
            </a:r>
            <a:endParaRPr lang="en-US" sz="1000" kern="100">
              <a:latin typeface="Arial" panose="020B0604020202020204" pitchFamily="34" charset="0"/>
              <a:ea typeface="Malgun Gothic" panose="020B0503020000020004" pitchFamily="34" charset="-127"/>
              <a:cs typeface="Arial" panose="020B0604020202020204" pitchFamily="34" charset="0"/>
            </a:endParaRP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If Water_Use_Code == 3 or 18  {																																					</a:t>
            </a:r>
            <a:r>
              <a:rPr lang="en-US" sz="1000" i="1" kern="100">
                <a:latin typeface="Arial" panose="020B0604020202020204" pitchFamily="34" charset="0"/>
                <a:ea typeface="Malgun Gothic" panose="020B0503020000020004" pitchFamily="34" charset="-127"/>
              </a:rPr>
              <a:t># Water Use Code for Instream.</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Source_Type</a:t>
            </a:r>
            <a:r>
              <a:rPr lang="en-US" sz="1000" b="1" kern="100">
                <a:latin typeface="Arial" panose="020B0604020202020204" pitchFamily="34" charset="0"/>
                <a:cs typeface="Arial" panose="020B0604020202020204" pitchFamily="34" charset="0"/>
              </a:rPr>
              <a:t> != 1  {																																		</a:t>
            </a:r>
            <a:r>
              <a:rPr lang="en-US" sz="1000" i="1" kern="100">
                <a:latin typeface="Arial" panose="020B0604020202020204" pitchFamily="34" charset="0"/>
                <a:ea typeface="Malgun Gothic" panose="020B0503020000020004" pitchFamily="34" charset="-127"/>
              </a:rPr>
              <a:t># </a:t>
            </a:r>
            <a:r>
              <a:rPr lang="en-US" sz="1000" i="1" kern="100" err="1">
                <a:latin typeface="Arial" panose="020B0604020202020204" pitchFamily="34" charset="0"/>
                <a:ea typeface="Malgun Gothic" panose="020B0503020000020004" pitchFamily="34" charset="-127"/>
              </a:rPr>
              <a:t>Source_type</a:t>
            </a:r>
            <a:r>
              <a:rPr lang="en-US" sz="1000" i="1" kern="100">
                <a:latin typeface="Arial" panose="020B0604020202020204" pitchFamily="34" charset="0"/>
                <a:ea typeface="Malgun Gothic" panose="020B0503020000020004" pitchFamily="34" charset="-127"/>
              </a:rPr>
              <a:t> for instream should be the Channel.</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Break																																					</a:t>
            </a:r>
            <a:endParaRPr lang="en-US" sz="1000" i="1" kern="100">
              <a:latin typeface="Arial" panose="020B0604020202020204" pitchFamily="34" charset="0"/>
              <a:ea typeface="Malgun Gothic" panose="020B0503020000020004" pitchFamily="34" charset="-127"/>
            </a:endParaRPr>
          </a:p>
          <a:p>
            <a:pPr defTabSz="182880">
              <a:lnSpc>
                <a:spcPct val="115000"/>
              </a:lnSpc>
              <a:spcAft>
                <a:spcPts val="600"/>
              </a:spcAft>
            </a:pPr>
            <a:r>
              <a:rPr lang="en-US" sz="1000" b="1" kern="100">
                <a:latin typeface="Arial" panose="020B0604020202020204" pitchFamily="34" charset="0"/>
                <a:cs typeface="Arial" panose="020B0604020202020204" pitchFamily="34" charset="0"/>
              </a:rPr>
              <a:t>			Else</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Day &gt;=start_date and &lt;= end_date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SWAT_flowout</a:t>
            </a:r>
            <a:r>
              <a:rPr lang="en-US" sz="1000" b="1" kern="100">
                <a:latin typeface="Arial" panose="020B0604020202020204" pitchFamily="34" charset="0"/>
                <a:cs typeface="Arial" panose="020B0604020202020204" pitchFamily="34" charset="0"/>
              </a:rPr>
              <a:t> (Day, </a:t>
            </a:r>
            <a:r>
              <a:rPr lang="en-US" sz="1000" b="1" kern="100" err="1">
                <a:latin typeface="Arial" panose="020B0604020202020204" pitchFamily="34" charset="0"/>
                <a:cs typeface="Arial" panose="020B0604020202020204" pitchFamily="34" charset="0"/>
              </a:rPr>
              <a:t>source_id</a:t>
            </a:r>
            <a:r>
              <a:rPr lang="en-US" sz="1000" b="1" kern="100">
                <a:latin typeface="Arial" panose="020B0604020202020204" pitchFamily="34" charset="0"/>
                <a:cs typeface="Arial" panose="020B0604020202020204" pitchFamily="34" charset="0"/>
              </a:rPr>
              <a:t>) &gt;= Maximum_Volume_Allowed / (end_date - start_date)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Instream_Flow</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Maximum_Volume_Allowed / (end_date - start_date)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Daily volume allowed for domestic use.</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Else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Instream_Flow</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a:t>
            </a:r>
            <a:r>
              <a:rPr lang="en-US" sz="1000" b="1" kern="100">
                <a:latin typeface="Arial" panose="020B0604020202020204" pitchFamily="34" charset="0"/>
                <a:cs typeface="Arial" panose="020B0604020202020204" pitchFamily="34" charset="0"/>
              </a:rPr>
              <a:t>	 }}}}}																											</a:t>
            </a:r>
            <a:r>
              <a:rPr lang="en-US" sz="1000" i="1" kern="100">
                <a:latin typeface="Arial" panose="020B0604020202020204" pitchFamily="34" charset="0"/>
                <a:ea typeface="Malgun Gothic" panose="020B0503020000020004" pitchFamily="34" charset="-127"/>
              </a:rPr>
              <a:t>#Total flow</a:t>
            </a:r>
          </a:p>
          <a:p>
            <a:pPr defTabSz="182880">
              <a:lnSpc>
                <a:spcPct val="115000"/>
              </a:lnSpc>
              <a:spcAft>
                <a:spcPts val="600"/>
              </a:spcAft>
            </a:pPr>
            <a:r>
              <a:rPr lang="en-US" sz="1000" b="1" i="1" kern="100">
                <a:latin typeface="Arial" panose="020B0604020202020204" pitchFamily="34" charset="0"/>
                <a:ea typeface="Malgun Gothic" panose="020B0503020000020004" pitchFamily="34" charset="-127"/>
              </a:rPr>
              <a:t>						</a:t>
            </a:r>
            <a:r>
              <a:rPr lang="en-US" sz="1000" i="1" kern="100">
                <a:latin typeface="Arial" panose="020B0604020202020204" pitchFamily="34" charset="0"/>
                <a:ea typeface="Malgun Gothic" panose="020B0503020000020004" pitchFamily="34" charset="-127"/>
              </a:rPr>
              <a:t>Deficit = </a:t>
            </a:r>
            <a:r>
              <a:rPr lang="en-US" sz="1000" kern="100">
                <a:latin typeface="Arial" panose="020B0604020202020204" pitchFamily="34" charset="0"/>
                <a:cs typeface="Arial" panose="020B0604020202020204" pitchFamily="34" charset="0"/>
              </a:rPr>
              <a:t>Maximum_Volume_Allowed / (end_date - start_date) - </a:t>
            </a:r>
            <a:r>
              <a:rPr lang="en-US" sz="1000" kern="100" err="1">
                <a:latin typeface="Arial" panose="020B0604020202020204" pitchFamily="34" charset="0"/>
                <a:cs typeface="Arial" panose="020B0604020202020204" pitchFamily="34" charset="0"/>
              </a:rPr>
              <a:t>Instream_Flow</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a:t>
            </a:r>
            <a:endParaRPr lang="en-US" sz="1000" i="1" kern="100">
              <a:latin typeface="Arial" panose="020B0604020202020204" pitchFamily="34" charset="0"/>
              <a:ea typeface="Malgun Gothic" panose="020B0503020000020004" pitchFamily="34" charset="-127"/>
            </a:endParaRPr>
          </a:p>
        </p:txBody>
      </p:sp>
      <p:cxnSp>
        <p:nvCxnSpPr>
          <p:cNvPr id="8" name="Straight Connector 7">
            <a:extLst>
              <a:ext uri="{FF2B5EF4-FFF2-40B4-BE49-F238E27FC236}">
                <a16:creationId xmlns:a16="http://schemas.microsoft.com/office/drawing/2014/main" id="{AE817CEF-40CA-D4D8-D2CC-6FEE24315A72}"/>
              </a:ext>
            </a:extLst>
          </p:cNvPr>
          <p:cNvCxnSpPr>
            <a:cxnSpLocks/>
          </p:cNvCxnSpPr>
          <p:nvPr/>
        </p:nvCxnSpPr>
        <p:spPr>
          <a:xfrm>
            <a:off x="2839258" y="3520680"/>
            <a:ext cx="6513484"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D2B0FF7F-AA21-5789-8161-8FBD3D93164B}"/>
              </a:ext>
            </a:extLst>
          </p:cNvPr>
          <p:cNvCxnSpPr>
            <a:cxnSpLocks/>
          </p:cNvCxnSpPr>
          <p:nvPr/>
        </p:nvCxnSpPr>
        <p:spPr>
          <a:xfrm>
            <a:off x="2456102" y="3779606"/>
            <a:ext cx="5691756"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0F857CA3-BAB0-E4E8-98F1-D7FBA0CFC05C}"/>
              </a:ext>
            </a:extLst>
          </p:cNvPr>
          <p:cNvCxnSpPr>
            <a:cxnSpLocks/>
          </p:cNvCxnSpPr>
          <p:nvPr/>
        </p:nvCxnSpPr>
        <p:spPr>
          <a:xfrm>
            <a:off x="6579524" y="5033057"/>
            <a:ext cx="2297776"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CBA7EB7-F998-EE38-CE6A-7805AECD7FC5}"/>
              </a:ext>
            </a:extLst>
          </p:cNvPr>
          <p:cNvCxnSpPr>
            <a:cxnSpLocks/>
          </p:cNvCxnSpPr>
          <p:nvPr/>
        </p:nvCxnSpPr>
        <p:spPr>
          <a:xfrm>
            <a:off x="5776191" y="5540903"/>
            <a:ext cx="4688609" cy="0"/>
          </a:xfrm>
          <a:prstGeom prst="line">
            <a:avLst/>
          </a:prstGeom>
          <a:ln>
            <a:prstDash val="sysDot"/>
          </a:ln>
        </p:spPr>
        <p:style>
          <a:lnRef idx="1">
            <a:schemeClr val="dk1"/>
          </a:lnRef>
          <a:fillRef idx="0">
            <a:schemeClr val="dk1"/>
          </a:fillRef>
          <a:effectRef idx="0">
            <a:schemeClr val="dk1"/>
          </a:effectRef>
          <a:fontRef idx="minor">
            <a:schemeClr val="tx1"/>
          </a:fontRef>
        </p:style>
      </p:cxnSp>
      <p:graphicFrame>
        <p:nvGraphicFramePr>
          <p:cNvPr id="15" name="Table 14">
            <a:extLst>
              <a:ext uri="{FF2B5EF4-FFF2-40B4-BE49-F238E27FC236}">
                <a16:creationId xmlns:a16="http://schemas.microsoft.com/office/drawing/2014/main" id="{1D1EDCA1-F03C-7CDA-C2AC-3FDAF33D490C}"/>
              </a:ext>
            </a:extLst>
          </p:cNvPr>
          <p:cNvGraphicFramePr>
            <a:graphicFrameLocks noGrp="1"/>
          </p:cNvGraphicFramePr>
          <p:nvPr>
            <p:extLst>
              <p:ext uri="{D42A27DB-BD31-4B8C-83A1-F6EECF244321}">
                <p14:modId xmlns:p14="http://schemas.microsoft.com/office/powerpoint/2010/main" val="1781721847"/>
              </p:ext>
            </p:extLst>
          </p:nvPr>
        </p:nvGraphicFramePr>
        <p:xfrm>
          <a:off x="416719" y="625282"/>
          <a:ext cx="11268291" cy="1081027"/>
        </p:xfrm>
        <a:graphic>
          <a:graphicData uri="http://schemas.openxmlformats.org/drawingml/2006/table">
            <a:tbl>
              <a:tblPr firstRow="1" firstCol="1" bandRow="1">
                <a:tableStyleId>{9D7B26C5-4107-4FEC-AEDC-1716B250A1EF}</a:tableStyleId>
              </a:tblPr>
              <a:tblGrid>
                <a:gridCol w="1403712">
                  <a:extLst>
                    <a:ext uri="{9D8B030D-6E8A-4147-A177-3AD203B41FA5}">
                      <a16:colId xmlns:a16="http://schemas.microsoft.com/office/drawing/2014/main" val="1058727986"/>
                    </a:ext>
                  </a:extLst>
                </a:gridCol>
                <a:gridCol w="1137503">
                  <a:extLst>
                    <a:ext uri="{9D8B030D-6E8A-4147-A177-3AD203B41FA5}">
                      <a16:colId xmlns:a16="http://schemas.microsoft.com/office/drawing/2014/main" val="1220378705"/>
                    </a:ext>
                  </a:extLst>
                </a:gridCol>
                <a:gridCol w="1230921">
                  <a:extLst>
                    <a:ext uri="{9D8B030D-6E8A-4147-A177-3AD203B41FA5}">
                      <a16:colId xmlns:a16="http://schemas.microsoft.com/office/drawing/2014/main" val="2192039817"/>
                    </a:ext>
                  </a:extLst>
                </a:gridCol>
                <a:gridCol w="1136129">
                  <a:extLst>
                    <a:ext uri="{9D8B030D-6E8A-4147-A177-3AD203B41FA5}">
                      <a16:colId xmlns:a16="http://schemas.microsoft.com/office/drawing/2014/main" val="4046327159"/>
                    </a:ext>
                  </a:extLst>
                </a:gridCol>
                <a:gridCol w="1382039">
                  <a:extLst>
                    <a:ext uri="{9D8B030D-6E8A-4147-A177-3AD203B41FA5}">
                      <a16:colId xmlns:a16="http://schemas.microsoft.com/office/drawing/2014/main" val="3683911116"/>
                    </a:ext>
                  </a:extLst>
                </a:gridCol>
                <a:gridCol w="1163606">
                  <a:extLst>
                    <a:ext uri="{9D8B030D-6E8A-4147-A177-3AD203B41FA5}">
                      <a16:colId xmlns:a16="http://schemas.microsoft.com/office/drawing/2014/main" val="2687951471"/>
                    </a:ext>
                  </a:extLst>
                </a:gridCol>
                <a:gridCol w="1123765">
                  <a:extLst>
                    <a:ext uri="{9D8B030D-6E8A-4147-A177-3AD203B41FA5}">
                      <a16:colId xmlns:a16="http://schemas.microsoft.com/office/drawing/2014/main" val="2248342749"/>
                    </a:ext>
                  </a:extLst>
                </a:gridCol>
                <a:gridCol w="1169101">
                  <a:extLst>
                    <a:ext uri="{9D8B030D-6E8A-4147-A177-3AD203B41FA5}">
                      <a16:colId xmlns:a16="http://schemas.microsoft.com/office/drawing/2014/main" val="1716385843"/>
                    </a:ext>
                  </a:extLst>
                </a:gridCol>
                <a:gridCol w="1521515">
                  <a:extLst>
                    <a:ext uri="{9D8B030D-6E8A-4147-A177-3AD203B41FA5}">
                      <a16:colId xmlns:a16="http://schemas.microsoft.com/office/drawing/2014/main" val="1987644138"/>
                    </a:ext>
                  </a:extLst>
                </a:gridCol>
              </a:tblGrid>
              <a:tr h="349322">
                <a:tc>
                  <a:txBody>
                    <a:bodyPr/>
                    <a:lstStyle/>
                    <a:p>
                      <a:pPr marL="0" marR="0" algn="ctr">
                        <a:lnSpc>
                          <a:spcPct val="115000"/>
                        </a:lnSpc>
                        <a:spcAft>
                          <a:spcPts val="800"/>
                        </a:spcAft>
                        <a:buNone/>
                      </a:pPr>
                      <a:r>
                        <a:rPr lang="en-US" sz="1100" kern="100">
                          <a:effectLst/>
                        </a:rPr>
                        <a:t>POD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Water Use Code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Type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Minimum Source Volume</a:t>
                      </a:r>
                      <a:endParaRPr lang="en-US" sz="1800" kern="100">
                        <a:effectLst/>
                      </a:endParaRPr>
                    </a:p>
                  </a:txBody>
                  <a:tcPr marL="68580" marR="68580" marT="0" marB="0" anchor="ctr"/>
                </a:tc>
                <a:tc>
                  <a:txBody>
                    <a:bodyPr/>
                    <a:lstStyle/>
                    <a:p>
                      <a:pPr marL="0" marR="0" algn="ctr">
                        <a:lnSpc>
                          <a:spcPct val="115000"/>
                        </a:lnSpc>
                        <a:spcAft>
                          <a:spcPts val="800"/>
                        </a:spcAft>
                        <a:buNone/>
                      </a:pPr>
                      <a:r>
                        <a:rPr lang="en-US" sz="1100" kern="100">
                          <a:effectLst/>
                        </a:rPr>
                        <a:t>Priority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Start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End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Maximum Volume Allowed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extLst>
                  <a:ext uri="{0D108BD9-81ED-4DB2-BD59-A6C34878D82A}">
                    <a16:rowId xmlns:a16="http://schemas.microsoft.com/office/drawing/2014/main" val="3378973156"/>
                  </a:ext>
                </a:extLst>
              </a:tr>
              <a:tr h="163015">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2</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3 or 18</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1</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Cha1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436149"/>
                  </a:ext>
                </a:extLst>
              </a:tr>
              <a:tr h="371732">
                <a:tc>
                  <a:txBody>
                    <a:bodyPr/>
                    <a:lstStyle/>
                    <a:p>
                      <a:pPr marL="0" marR="0" algn="ctr" defTabSz="914400" rtl="0" eaLnBrk="1" latinLnBrk="0" hangingPunct="1">
                        <a:lnSpc>
                          <a:spcPct val="115000"/>
                        </a:lnSpc>
                        <a:spcAft>
                          <a:spcPts val="800"/>
                        </a:spcAft>
                        <a:buNone/>
                      </a:pPr>
                      <a:endParaRPr lang="en-US" sz="1100" b="1" kern="100">
                        <a:solidFill>
                          <a:schemeClr val="tx1"/>
                        </a:solidFill>
                        <a:effectLst/>
                        <a:latin typeface="+mn-lt"/>
                        <a:ea typeface="+mn-ea"/>
                        <a:cs typeface="+mn-cs"/>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endParaRPr lang="en-US" sz="1100" b="1" kern="100">
                        <a:solidFill>
                          <a:schemeClr val="tx1"/>
                        </a:solidFill>
                        <a:effectLst/>
                        <a:latin typeface="+mn-lt"/>
                        <a:ea typeface="+mn-ea"/>
                        <a:cs typeface="+mn-cs"/>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Delay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Source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Rate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756887"/>
                  </a:ext>
                </a:extLst>
              </a:tr>
              <a:tr h="163015">
                <a:tc>
                  <a:txBody>
                    <a:bodyPr/>
                    <a:lstStyle/>
                    <a:p>
                      <a:pPr marL="0" marR="0" algn="ctr">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12415012"/>
                  </a:ext>
                </a:extLst>
              </a:tr>
            </a:tbl>
          </a:graphicData>
        </a:graphic>
      </p:graphicFrame>
    </p:spTree>
    <p:extLst>
      <p:ext uri="{BB962C8B-B14F-4D97-AF65-F5344CB8AC3E}">
        <p14:creationId xmlns:p14="http://schemas.microsoft.com/office/powerpoint/2010/main" val="3787303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989A6-53D5-46AE-3305-7AFE908C32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377C70-5708-0E2E-9CFF-BB6C23B25B9B}"/>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3 – Domestic from Reservoir</a:t>
            </a:r>
            <a:endParaRPr lang="en-US"/>
          </a:p>
        </p:txBody>
      </p:sp>
      <p:cxnSp>
        <p:nvCxnSpPr>
          <p:cNvPr id="7" name="Straight Connector 6">
            <a:extLst>
              <a:ext uri="{FF2B5EF4-FFF2-40B4-BE49-F238E27FC236}">
                <a16:creationId xmlns:a16="http://schemas.microsoft.com/office/drawing/2014/main" id="{86049CA5-4C57-2A89-D3E6-CB7C2AB6AAEF}"/>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4F3DD9CF-79D9-34CF-7D72-D37E67A8EE0F}"/>
              </a:ext>
            </a:extLst>
          </p:cNvPr>
          <p:cNvSpPr txBox="1"/>
          <p:nvPr/>
        </p:nvSpPr>
        <p:spPr>
          <a:xfrm>
            <a:off x="416719" y="1898015"/>
            <a:ext cx="10401300" cy="292516"/>
          </a:xfrm>
          <a:prstGeom prst="rect">
            <a:avLst/>
          </a:prstGeom>
          <a:noFill/>
        </p:spPr>
        <p:txBody>
          <a:bodyPr wrap="square">
            <a:spAutoFit/>
          </a:bodyPr>
          <a:lstStyle/>
          <a:p>
            <a:pPr marL="0" marR="0">
              <a:lnSpc>
                <a:spcPct val="115000"/>
              </a:lnSpc>
              <a:spcAft>
                <a:spcPts val="800"/>
              </a:spcAft>
              <a:buNone/>
            </a:pPr>
            <a:r>
              <a:rPr lang="en-US" sz="1200" b="1" kern="100">
                <a:effectLst/>
                <a:latin typeface="Arial" panose="020B0604020202020204" pitchFamily="34" charset="0"/>
                <a:ea typeface="Arial" panose="020B0604020202020204" pitchFamily="34" charset="0"/>
                <a:cs typeface="Arial" panose="020B0604020202020204" pitchFamily="34" charset="0"/>
              </a:rPr>
              <a:t>Func. Water_Allocation (POD_ID, Water_Use_Code, Source_type, Source_ID, ..., Maximum Volume Allowed)</a:t>
            </a:r>
            <a:endParaRPr lang="en-US" kern="100">
              <a:effectLst/>
              <a:latin typeface="Aptos" panose="020B0004020202020204" pitchFamily="34" charset="0"/>
              <a:ea typeface="Malgun Gothic" panose="020B0503020000020004" pitchFamily="34" charset="-127"/>
              <a:cs typeface="Arial" panose="020B0604020202020204" pitchFamily="34" charset="0"/>
            </a:endParaRPr>
          </a:p>
        </p:txBody>
      </p:sp>
      <p:sp>
        <p:nvSpPr>
          <p:cNvPr id="3" name="TextBox 2">
            <a:extLst>
              <a:ext uri="{FF2B5EF4-FFF2-40B4-BE49-F238E27FC236}">
                <a16:creationId xmlns:a16="http://schemas.microsoft.com/office/drawing/2014/main" id="{C4B3D936-A3C6-B24A-2563-A71A2E0C3177}"/>
              </a:ext>
            </a:extLst>
          </p:cNvPr>
          <p:cNvSpPr txBox="1"/>
          <p:nvPr/>
        </p:nvSpPr>
        <p:spPr>
          <a:xfrm>
            <a:off x="416719" y="2336072"/>
            <a:ext cx="11021594" cy="3962944"/>
          </a:xfrm>
          <a:prstGeom prst="rect">
            <a:avLst/>
          </a:prstGeom>
          <a:noFill/>
        </p:spPr>
        <p:txBody>
          <a:bodyPr wrap="square">
            <a:spAutoFit/>
          </a:bodyPr>
          <a:lstStyle/>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For Day in </a:t>
            </a:r>
            <a:r>
              <a:rPr lang="en-US" sz="1000" b="1" kern="100">
                <a:latin typeface="Arial" panose="020B0604020202020204" pitchFamily="34" charset="0"/>
                <a:ea typeface="Arial" panose="020B0604020202020204" pitchFamily="34" charset="0"/>
                <a:cs typeface="Arial" panose="020B0604020202020204" pitchFamily="34" charset="0"/>
              </a:rPr>
              <a:t>operation period</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ea typeface="Malgun Gothic" panose="020B0503020000020004" pitchFamily="34" charset="-127"/>
                <a:cs typeface="Arial" panose="020B0604020202020204" pitchFamily="34" charset="0"/>
              </a:rPr>
              <a:t> Cut_off ()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For current POD_ID</a:t>
            </a:r>
          </a:p>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		Maximum_Volume_Allowed(</a:t>
            </a:r>
            <a:r>
              <a:rPr lang="en-US" sz="1000" b="1" kern="100">
                <a:latin typeface="Arial" panose="020B0604020202020204" pitchFamily="34" charset="0"/>
                <a:cs typeface="Arial" panose="020B0604020202020204" pitchFamily="34" charset="0"/>
              </a:rPr>
              <a:t>current POD_ID, Day)</a:t>
            </a:r>
            <a:r>
              <a:rPr lang="en-US" sz="1000" b="1" kern="100">
                <a:effectLst/>
                <a:latin typeface="Arial" panose="020B0604020202020204" pitchFamily="34" charset="0"/>
                <a:ea typeface="Arial" panose="020B0604020202020204" pitchFamily="34" charset="0"/>
                <a:cs typeface="Arial" panose="020B0604020202020204" pitchFamily="34" charset="0"/>
              </a:rPr>
              <a:t> </a:t>
            </a:r>
            <a:r>
              <a:rPr lang="en-US" sz="1000" b="1" kern="100">
                <a:effectLst/>
                <a:latin typeface="Arial" panose="020B0604020202020204" pitchFamily="34" charset="0"/>
                <a:ea typeface="Malgun Gothic" panose="020B0503020000020004" pitchFamily="34" charset="-127"/>
                <a:cs typeface="Arial" panose="020B0604020202020204" pitchFamily="34" charset="0"/>
              </a:rPr>
              <a:t> = </a:t>
            </a:r>
            <a:r>
              <a:rPr lang="en-US" sz="1000" b="1" kern="100">
                <a:latin typeface="Arial" panose="020B0604020202020204" pitchFamily="34" charset="0"/>
                <a:ea typeface="Malgun Gothic" panose="020B0503020000020004" pitchFamily="34" charset="-127"/>
                <a:cs typeface="Arial" panose="020B0604020202020204" pitchFamily="34" charset="0"/>
              </a:rPr>
              <a:t>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cs typeface="Arial" panose="020B0604020202020204" pitchFamily="34" charset="0"/>
              </a:rPr>
              <a:t>current POD_ID</a:t>
            </a:r>
            <a:r>
              <a:rPr lang="en-US" sz="1000" b="1" kern="100">
                <a:latin typeface="Arial" panose="020B0604020202020204" pitchFamily="34" charset="0"/>
                <a:ea typeface="Arial" panose="020B0604020202020204" pitchFamily="34" charset="0"/>
                <a:cs typeface="Arial" panose="020B0604020202020204" pitchFamily="34" charset="0"/>
              </a:rPr>
              <a:t>)</a:t>
            </a:r>
            <a:endParaRPr lang="en-US" sz="1000" b="1" kern="100">
              <a:latin typeface="Arial" panose="020B0604020202020204" pitchFamily="34" charset="0"/>
              <a:ea typeface="Malgun Gothic" panose="020B0503020000020004" pitchFamily="34" charset="-127"/>
              <a:cs typeface="Arial" panose="020B0604020202020204" pitchFamily="34" charset="0"/>
            </a:endParaRP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If Water_Use_Code == 5  {																																							</a:t>
            </a:r>
            <a:r>
              <a:rPr lang="en-US" sz="1000" i="1" kern="100">
                <a:latin typeface="Arial" panose="020B0604020202020204" pitchFamily="34" charset="0"/>
                <a:ea typeface="Malgun Gothic" panose="020B0503020000020004" pitchFamily="34" charset="-127"/>
              </a:rPr>
              <a:t># Water Use Code for Domestic.</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Source_Type</a:t>
            </a:r>
            <a:r>
              <a:rPr lang="en-US" sz="1000" b="1" kern="100">
                <a:latin typeface="Arial" panose="020B0604020202020204" pitchFamily="34" charset="0"/>
                <a:cs typeface="Arial" panose="020B0604020202020204" pitchFamily="34" charset="0"/>
              </a:rPr>
              <a:t> == 2  {  																												</a:t>
            </a:r>
            <a:r>
              <a:rPr lang="en-US" sz="1000" i="1" kern="100">
                <a:latin typeface="Arial" panose="020B0604020202020204" pitchFamily="34" charset="0"/>
                <a:ea typeface="Malgun Gothic" panose="020B0503020000020004" pitchFamily="34" charset="-127"/>
              </a:rPr>
              <a:t># Source_ID is linked with the pre-defined Channel_ID or </a:t>
            </a:r>
            <a:r>
              <a:rPr lang="en-US" sz="1000" i="1" kern="100" err="1">
                <a:latin typeface="Arial" panose="020B0604020202020204" pitchFamily="34" charset="0"/>
                <a:ea typeface="Malgun Gothic" panose="020B0503020000020004" pitchFamily="34" charset="-127"/>
              </a:rPr>
              <a:t>Reach_ID</a:t>
            </a:r>
            <a:r>
              <a:rPr lang="en-US" sz="1000" i="1" kern="100">
                <a:latin typeface="Arial" panose="020B0604020202020204" pitchFamily="34" charset="0"/>
                <a:ea typeface="Malgun Gothic" panose="020B0503020000020004" pitchFamily="34" charset="-127"/>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Day &gt;=start_date and &lt;= end_date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Storage_Volume</a:t>
            </a:r>
            <a:r>
              <a:rPr lang="en-US" sz="1000" b="1" kern="100">
                <a:latin typeface="Arial" panose="020B0604020202020204" pitchFamily="34" charset="0"/>
                <a:cs typeface="Arial" panose="020B0604020202020204" pitchFamily="34" charset="0"/>
              </a:rPr>
              <a:t> (Day, </a:t>
            </a:r>
            <a:r>
              <a:rPr lang="en-US" sz="1000" b="1" kern="100" err="1">
                <a:latin typeface="Arial" panose="020B0604020202020204" pitchFamily="34" charset="0"/>
                <a:cs typeface="Arial" panose="020B0604020202020204" pitchFamily="34" charset="0"/>
              </a:rPr>
              <a:t>source_id</a:t>
            </a:r>
            <a:r>
              <a:rPr lang="en-US" sz="1000" b="1" kern="100">
                <a:latin typeface="Arial" panose="020B0604020202020204" pitchFamily="34" charset="0"/>
                <a:cs typeface="Arial" panose="020B0604020202020204" pitchFamily="34" charset="0"/>
              </a:rPr>
              <a:t>) - Minimum Source Volume (</a:t>
            </a:r>
            <a:r>
              <a:rPr lang="en-US" sz="1000" b="1" kern="100" err="1">
                <a:latin typeface="Arial" panose="020B0604020202020204" pitchFamily="34" charset="0"/>
                <a:cs typeface="Arial" panose="020B0604020202020204" pitchFamily="34" charset="0"/>
              </a:rPr>
              <a:t>source_id</a:t>
            </a:r>
            <a:r>
              <a:rPr lang="en-US" sz="1000" b="1" kern="100">
                <a:latin typeface="Arial" panose="020B0604020202020204" pitchFamily="34" charset="0"/>
                <a:cs typeface="Arial" panose="020B0604020202020204" pitchFamily="34" charset="0"/>
              </a:rPr>
              <a:t>) &gt;= Maximum_Volume_Allowed / (end_date - start_date)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Maximum_Volume_Allowed / (end_date - start_date)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Daily volume allowed for domestic use.</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0;</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Else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a:t>
            </a:r>
            <a:r>
              <a:rPr lang="en-US" sz="1000" kern="100" err="1">
                <a:latin typeface="Arial" panose="020B0604020202020204" pitchFamily="34" charset="0"/>
                <a:cs typeface="Arial" panose="020B0604020202020204" pitchFamily="34" charset="0"/>
              </a:rPr>
              <a:t>Storage_Volume</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Minimum Source Volume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a:t>
            </a:r>
            <a:r>
              <a:rPr lang="en-US" sz="1000" b="1" kern="100">
                <a:latin typeface="Arial" panose="020B0604020202020204" pitchFamily="34" charset="0"/>
                <a:cs typeface="Arial" panose="020B0604020202020204" pitchFamily="34" charset="0"/>
              </a:rPr>
              <a:t> }}}}}																					</a:t>
            </a:r>
            <a:r>
              <a:rPr lang="en-US" sz="1000" i="1" kern="100">
                <a:latin typeface="Arial" panose="020B0604020202020204" pitchFamily="34" charset="0"/>
                <a:ea typeface="Malgun Gothic" panose="020B0503020000020004" pitchFamily="34" charset="-127"/>
              </a:rPr>
              <a:t>#Total flow</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a:t>
            </a:r>
            <a:r>
              <a:rPr lang="en-US" sz="1000" kern="100">
                <a:latin typeface="Arial" panose="020B0604020202020204" pitchFamily="34" charset="0"/>
                <a:cs typeface="Arial" panose="020B0604020202020204" pitchFamily="34" charset="0"/>
              </a:rPr>
              <a:t>Maximum_Volume_Allowed / (end_date - start_date) - Withdrawal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Storage_Volume</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Storage_Volume</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Withdrawal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Updating the channel flow</a:t>
            </a:r>
          </a:p>
        </p:txBody>
      </p:sp>
      <p:graphicFrame>
        <p:nvGraphicFramePr>
          <p:cNvPr id="4" name="Table 3">
            <a:extLst>
              <a:ext uri="{FF2B5EF4-FFF2-40B4-BE49-F238E27FC236}">
                <a16:creationId xmlns:a16="http://schemas.microsoft.com/office/drawing/2014/main" id="{A1FCE9C4-94F3-F5A9-93C5-0067B3673CBA}"/>
              </a:ext>
            </a:extLst>
          </p:cNvPr>
          <p:cNvGraphicFramePr>
            <a:graphicFrameLocks noGrp="1"/>
          </p:cNvGraphicFramePr>
          <p:nvPr>
            <p:extLst>
              <p:ext uri="{D42A27DB-BD31-4B8C-83A1-F6EECF244321}">
                <p14:modId xmlns:p14="http://schemas.microsoft.com/office/powerpoint/2010/main" val="2958201561"/>
              </p:ext>
            </p:extLst>
          </p:nvPr>
        </p:nvGraphicFramePr>
        <p:xfrm>
          <a:off x="416719" y="625282"/>
          <a:ext cx="11268291" cy="1081027"/>
        </p:xfrm>
        <a:graphic>
          <a:graphicData uri="http://schemas.openxmlformats.org/drawingml/2006/table">
            <a:tbl>
              <a:tblPr firstRow="1" firstCol="1" bandRow="1">
                <a:tableStyleId>{9D7B26C5-4107-4FEC-AEDC-1716B250A1EF}</a:tableStyleId>
              </a:tblPr>
              <a:tblGrid>
                <a:gridCol w="1403712">
                  <a:extLst>
                    <a:ext uri="{9D8B030D-6E8A-4147-A177-3AD203B41FA5}">
                      <a16:colId xmlns:a16="http://schemas.microsoft.com/office/drawing/2014/main" val="1058727986"/>
                    </a:ext>
                  </a:extLst>
                </a:gridCol>
                <a:gridCol w="1137503">
                  <a:extLst>
                    <a:ext uri="{9D8B030D-6E8A-4147-A177-3AD203B41FA5}">
                      <a16:colId xmlns:a16="http://schemas.microsoft.com/office/drawing/2014/main" val="1220378705"/>
                    </a:ext>
                  </a:extLst>
                </a:gridCol>
                <a:gridCol w="1230921">
                  <a:extLst>
                    <a:ext uri="{9D8B030D-6E8A-4147-A177-3AD203B41FA5}">
                      <a16:colId xmlns:a16="http://schemas.microsoft.com/office/drawing/2014/main" val="2192039817"/>
                    </a:ext>
                  </a:extLst>
                </a:gridCol>
                <a:gridCol w="1136129">
                  <a:extLst>
                    <a:ext uri="{9D8B030D-6E8A-4147-A177-3AD203B41FA5}">
                      <a16:colId xmlns:a16="http://schemas.microsoft.com/office/drawing/2014/main" val="4046327159"/>
                    </a:ext>
                  </a:extLst>
                </a:gridCol>
                <a:gridCol w="1382039">
                  <a:extLst>
                    <a:ext uri="{9D8B030D-6E8A-4147-A177-3AD203B41FA5}">
                      <a16:colId xmlns:a16="http://schemas.microsoft.com/office/drawing/2014/main" val="3683911116"/>
                    </a:ext>
                  </a:extLst>
                </a:gridCol>
                <a:gridCol w="1163606">
                  <a:extLst>
                    <a:ext uri="{9D8B030D-6E8A-4147-A177-3AD203B41FA5}">
                      <a16:colId xmlns:a16="http://schemas.microsoft.com/office/drawing/2014/main" val="2687951471"/>
                    </a:ext>
                  </a:extLst>
                </a:gridCol>
                <a:gridCol w="1123765">
                  <a:extLst>
                    <a:ext uri="{9D8B030D-6E8A-4147-A177-3AD203B41FA5}">
                      <a16:colId xmlns:a16="http://schemas.microsoft.com/office/drawing/2014/main" val="2248342749"/>
                    </a:ext>
                  </a:extLst>
                </a:gridCol>
                <a:gridCol w="1169101">
                  <a:extLst>
                    <a:ext uri="{9D8B030D-6E8A-4147-A177-3AD203B41FA5}">
                      <a16:colId xmlns:a16="http://schemas.microsoft.com/office/drawing/2014/main" val="1716385843"/>
                    </a:ext>
                  </a:extLst>
                </a:gridCol>
                <a:gridCol w="1521515">
                  <a:extLst>
                    <a:ext uri="{9D8B030D-6E8A-4147-A177-3AD203B41FA5}">
                      <a16:colId xmlns:a16="http://schemas.microsoft.com/office/drawing/2014/main" val="1987644138"/>
                    </a:ext>
                  </a:extLst>
                </a:gridCol>
              </a:tblGrid>
              <a:tr h="349322">
                <a:tc>
                  <a:txBody>
                    <a:bodyPr/>
                    <a:lstStyle/>
                    <a:p>
                      <a:pPr marL="0" marR="0" algn="ctr">
                        <a:lnSpc>
                          <a:spcPct val="115000"/>
                        </a:lnSpc>
                        <a:spcAft>
                          <a:spcPts val="800"/>
                        </a:spcAft>
                        <a:buNone/>
                      </a:pPr>
                      <a:r>
                        <a:rPr lang="en-US" sz="1100" kern="100">
                          <a:effectLst/>
                        </a:rPr>
                        <a:t>POD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Water Use Code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Type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Minimum Source Volume</a:t>
                      </a:r>
                      <a:endParaRPr lang="en-US" sz="1800" kern="100">
                        <a:effectLst/>
                      </a:endParaRPr>
                    </a:p>
                  </a:txBody>
                  <a:tcPr marL="68580" marR="68580" marT="0" marB="0" anchor="ctr"/>
                </a:tc>
                <a:tc>
                  <a:txBody>
                    <a:bodyPr/>
                    <a:lstStyle/>
                    <a:p>
                      <a:pPr marL="0" marR="0" algn="ctr">
                        <a:lnSpc>
                          <a:spcPct val="115000"/>
                        </a:lnSpc>
                        <a:spcAft>
                          <a:spcPts val="800"/>
                        </a:spcAft>
                        <a:buNone/>
                      </a:pPr>
                      <a:r>
                        <a:rPr lang="en-US" sz="1100" kern="100">
                          <a:effectLst/>
                        </a:rPr>
                        <a:t>Priority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Start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End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Maximum Volume Allowed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extLst>
                  <a:ext uri="{0D108BD9-81ED-4DB2-BD59-A6C34878D82A}">
                    <a16:rowId xmlns:a16="http://schemas.microsoft.com/office/drawing/2014/main" val="3378973156"/>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3</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5</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2</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Res1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Dead level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436149"/>
                  </a:ext>
                </a:extLst>
              </a:tr>
              <a:tr h="371732">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Domestic Duty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Family Number</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Delay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Source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Rate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756887"/>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12415012"/>
                  </a:ext>
                </a:extLst>
              </a:tr>
            </a:tbl>
          </a:graphicData>
        </a:graphic>
      </p:graphicFrame>
      <p:cxnSp>
        <p:nvCxnSpPr>
          <p:cNvPr id="6" name="Straight Connector 5">
            <a:extLst>
              <a:ext uri="{FF2B5EF4-FFF2-40B4-BE49-F238E27FC236}">
                <a16:creationId xmlns:a16="http://schemas.microsoft.com/office/drawing/2014/main" id="{C66EF858-3689-8DDE-DB57-5CB006C659F2}"/>
              </a:ext>
            </a:extLst>
          </p:cNvPr>
          <p:cNvCxnSpPr>
            <a:cxnSpLocks/>
          </p:cNvCxnSpPr>
          <p:nvPr/>
        </p:nvCxnSpPr>
        <p:spPr>
          <a:xfrm>
            <a:off x="392169" y="3039514"/>
            <a:ext cx="11292840"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24DF02D-363C-A1FD-1493-BC043D0FE008}"/>
              </a:ext>
            </a:extLst>
          </p:cNvPr>
          <p:cNvCxnSpPr>
            <a:cxnSpLocks/>
          </p:cNvCxnSpPr>
          <p:nvPr/>
        </p:nvCxnSpPr>
        <p:spPr>
          <a:xfrm>
            <a:off x="2481583" y="3831994"/>
            <a:ext cx="689186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0DAAD6D0-11D6-46C0-04BD-8C7DEE45030C}"/>
              </a:ext>
            </a:extLst>
          </p:cNvPr>
          <p:cNvCxnSpPr>
            <a:cxnSpLocks/>
          </p:cNvCxnSpPr>
          <p:nvPr/>
        </p:nvCxnSpPr>
        <p:spPr>
          <a:xfrm>
            <a:off x="2396916" y="4128327"/>
            <a:ext cx="500380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9D1F08A-7FC3-7B23-7BC2-D23BEFFAE425}"/>
              </a:ext>
            </a:extLst>
          </p:cNvPr>
          <p:cNvCxnSpPr>
            <a:cxnSpLocks/>
          </p:cNvCxnSpPr>
          <p:nvPr/>
        </p:nvCxnSpPr>
        <p:spPr>
          <a:xfrm>
            <a:off x="5437374" y="4911647"/>
            <a:ext cx="246056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8555971-5744-4F43-CF2B-E84585415055}"/>
              </a:ext>
            </a:extLst>
          </p:cNvPr>
          <p:cNvCxnSpPr>
            <a:cxnSpLocks/>
          </p:cNvCxnSpPr>
          <p:nvPr/>
        </p:nvCxnSpPr>
        <p:spPr>
          <a:xfrm>
            <a:off x="6912883" y="5648093"/>
            <a:ext cx="351381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6AA0823-B2DE-AFFD-6780-32EB7300D1F2}"/>
              </a:ext>
            </a:extLst>
          </p:cNvPr>
          <p:cNvCxnSpPr>
            <a:cxnSpLocks/>
          </p:cNvCxnSpPr>
          <p:nvPr/>
        </p:nvCxnSpPr>
        <p:spPr>
          <a:xfrm>
            <a:off x="5643808" y="6156093"/>
            <a:ext cx="3944692" cy="0"/>
          </a:xfrm>
          <a:prstGeom prst="line">
            <a:avLst/>
          </a:prstGeom>
          <a:ln>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5697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BEB2-E0C7-594C-3891-CD51E609507A}"/>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7A77453-23B9-6F7F-6A10-BB61D402A964}"/>
              </a:ext>
            </a:extLst>
          </p:cNvPr>
          <p:cNvSpPr txBox="1"/>
          <p:nvPr/>
        </p:nvSpPr>
        <p:spPr>
          <a:xfrm>
            <a:off x="416719" y="2336072"/>
            <a:ext cx="11021594" cy="3962944"/>
          </a:xfrm>
          <a:prstGeom prst="rect">
            <a:avLst/>
          </a:prstGeom>
          <a:noFill/>
        </p:spPr>
        <p:txBody>
          <a:bodyPr wrap="square">
            <a:spAutoFit/>
          </a:bodyPr>
          <a:lstStyle/>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For Day in </a:t>
            </a:r>
            <a:r>
              <a:rPr lang="en-US" sz="1000" b="1" kern="100">
                <a:latin typeface="Arial" panose="020B0604020202020204" pitchFamily="34" charset="0"/>
                <a:ea typeface="Arial" panose="020B0604020202020204" pitchFamily="34" charset="0"/>
                <a:cs typeface="Arial" panose="020B0604020202020204" pitchFamily="34" charset="0"/>
              </a:rPr>
              <a:t>operation period</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ea typeface="Malgun Gothic" panose="020B0503020000020004" pitchFamily="34" charset="-127"/>
                <a:cs typeface="Arial" panose="020B0604020202020204" pitchFamily="34" charset="0"/>
              </a:rPr>
              <a:t> Cut_off ()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For current POD_ID</a:t>
            </a:r>
          </a:p>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		Maximum_Volume_Allowed(</a:t>
            </a:r>
            <a:r>
              <a:rPr lang="en-US" sz="1000" b="1" kern="100">
                <a:latin typeface="Arial" panose="020B0604020202020204" pitchFamily="34" charset="0"/>
                <a:cs typeface="Arial" panose="020B0604020202020204" pitchFamily="34" charset="0"/>
              </a:rPr>
              <a:t>current POD_ID, Day)</a:t>
            </a:r>
            <a:r>
              <a:rPr lang="en-US" sz="1000" b="1" kern="100">
                <a:effectLst/>
                <a:latin typeface="Arial" panose="020B0604020202020204" pitchFamily="34" charset="0"/>
                <a:ea typeface="Arial" panose="020B0604020202020204" pitchFamily="34" charset="0"/>
                <a:cs typeface="Arial" panose="020B0604020202020204" pitchFamily="34" charset="0"/>
              </a:rPr>
              <a:t> </a:t>
            </a:r>
            <a:r>
              <a:rPr lang="en-US" sz="1000" b="1" kern="100">
                <a:effectLst/>
                <a:latin typeface="Arial" panose="020B0604020202020204" pitchFamily="34" charset="0"/>
                <a:ea typeface="Malgun Gothic" panose="020B0503020000020004" pitchFamily="34" charset="-127"/>
                <a:cs typeface="Arial" panose="020B0604020202020204" pitchFamily="34" charset="0"/>
              </a:rPr>
              <a:t> = </a:t>
            </a:r>
            <a:r>
              <a:rPr lang="en-US" sz="1000" b="1" kern="100">
                <a:latin typeface="Arial" panose="020B0604020202020204" pitchFamily="34" charset="0"/>
                <a:ea typeface="Malgun Gothic" panose="020B0503020000020004" pitchFamily="34" charset="-127"/>
                <a:cs typeface="Arial" panose="020B0604020202020204" pitchFamily="34" charset="0"/>
              </a:rPr>
              <a:t>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cs typeface="Arial" panose="020B0604020202020204" pitchFamily="34" charset="0"/>
              </a:rPr>
              <a:t>current POD_ID</a:t>
            </a:r>
            <a:r>
              <a:rPr lang="en-US" sz="1000" b="1" kern="100">
                <a:latin typeface="Arial" panose="020B0604020202020204" pitchFamily="34" charset="0"/>
                <a:ea typeface="Arial" panose="020B0604020202020204" pitchFamily="34" charset="0"/>
                <a:cs typeface="Arial" panose="020B0604020202020204" pitchFamily="34" charset="0"/>
              </a:rPr>
              <a:t>)</a:t>
            </a:r>
            <a:endParaRPr lang="en-US" sz="1000" b="1" kern="100">
              <a:latin typeface="Arial" panose="020B0604020202020204" pitchFamily="34" charset="0"/>
              <a:ea typeface="Malgun Gothic" panose="020B0503020000020004" pitchFamily="34" charset="-127"/>
              <a:cs typeface="Arial" panose="020B0604020202020204" pitchFamily="34" charset="0"/>
            </a:endParaRP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If Water_Use_Code == 14 or 15  {																																					</a:t>
            </a:r>
            <a:r>
              <a:rPr lang="en-US" sz="1000" i="1" kern="100">
                <a:latin typeface="Arial" panose="020B0604020202020204" pitchFamily="34" charset="0"/>
                <a:ea typeface="Malgun Gothic" panose="020B0503020000020004" pitchFamily="34" charset="-127"/>
              </a:rPr>
              <a:t># Water Use Code for Irrigation.</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Source_Type</a:t>
            </a:r>
            <a:r>
              <a:rPr lang="en-US" sz="1000" b="1" kern="100">
                <a:latin typeface="Arial" panose="020B0604020202020204" pitchFamily="34" charset="0"/>
                <a:cs typeface="Arial" panose="020B0604020202020204" pitchFamily="34" charset="0"/>
              </a:rPr>
              <a:t> == 1  {  																												</a:t>
            </a:r>
            <a:r>
              <a:rPr lang="en-US" sz="1000" i="1" kern="100">
                <a:latin typeface="Arial" panose="020B0604020202020204" pitchFamily="34" charset="0"/>
                <a:ea typeface="Malgun Gothic" panose="020B0503020000020004" pitchFamily="34" charset="-127"/>
              </a:rPr>
              <a:t># Source_ID is linked with the pre-defined Channel_ID or </a:t>
            </a:r>
            <a:r>
              <a:rPr lang="en-US" sz="1000" i="1" kern="100" err="1">
                <a:latin typeface="Arial" panose="020B0604020202020204" pitchFamily="34" charset="0"/>
                <a:ea typeface="Malgun Gothic" panose="020B0503020000020004" pitchFamily="34" charset="-127"/>
              </a:rPr>
              <a:t>Reach_ID</a:t>
            </a:r>
            <a:r>
              <a:rPr lang="en-US" sz="1000" i="1" kern="100">
                <a:latin typeface="Arial" panose="020B0604020202020204" pitchFamily="34" charset="0"/>
                <a:ea typeface="Malgun Gothic" panose="020B0503020000020004" pitchFamily="34" charset="-127"/>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Day &gt;=start_date and &lt;= end_date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SWAT_flowout</a:t>
            </a:r>
            <a:r>
              <a:rPr lang="en-US" sz="1000" b="1" kern="100">
                <a:latin typeface="Arial" panose="020B0604020202020204" pitchFamily="34" charset="0"/>
                <a:cs typeface="Arial" panose="020B0604020202020204" pitchFamily="34" charset="0"/>
              </a:rPr>
              <a:t> (Day, </a:t>
            </a:r>
            <a:r>
              <a:rPr lang="en-US" sz="1000" b="1" kern="100" err="1">
                <a:latin typeface="Arial" panose="020B0604020202020204" pitchFamily="34" charset="0"/>
                <a:cs typeface="Arial" panose="020B0604020202020204" pitchFamily="34" charset="0"/>
              </a:rPr>
              <a:t>source_id</a:t>
            </a:r>
            <a:r>
              <a:rPr lang="en-US" sz="1000" b="1" kern="100">
                <a:latin typeface="Arial" panose="020B0604020202020204" pitchFamily="34" charset="0"/>
                <a:cs typeface="Arial" panose="020B0604020202020204" pitchFamily="34" charset="0"/>
              </a:rPr>
              <a:t>) &gt;= Maximum_Volume_Allowed / (end_date - start_date)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Maximum_Volume_Allowed / (end_date - start_date)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Daily volume allowed for domestic use.</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0;</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Else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a:t>
            </a:r>
            <a:r>
              <a:rPr lang="en-US" sz="1000" b="1" kern="100">
                <a:latin typeface="Arial" panose="020B0604020202020204" pitchFamily="34" charset="0"/>
                <a:cs typeface="Arial" panose="020B0604020202020204" pitchFamily="34" charset="0"/>
              </a:rPr>
              <a:t>	 }}}}}																																		</a:t>
            </a:r>
            <a:r>
              <a:rPr lang="en-US" sz="1000" i="1" kern="100">
                <a:latin typeface="Arial" panose="020B0604020202020204" pitchFamily="34" charset="0"/>
                <a:ea typeface="Malgun Gothic" panose="020B0503020000020004" pitchFamily="34" charset="-127"/>
              </a:rPr>
              <a:t>#Total flow</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a:t>
            </a:r>
            <a:r>
              <a:rPr lang="en-US" sz="1000" kern="100">
                <a:latin typeface="Arial" panose="020B0604020202020204" pitchFamily="34" charset="0"/>
                <a:cs typeface="Arial" panose="020B0604020202020204" pitchFamily="34" charset="0"/>
              </a:rPr>
              <a:t>Maximum_Volume_Allowed / (end_date - start_date) - Withdrawal</a:t>
            </a:r>
            <a:endParaRPr lang="en-US" sz="1000" i="1" kern="100">
              <a:latin typeface="Arial" panose="020B0604020202020204" pitchFamily="34" charset="0"/>
              <a:ea typeface="Malgun Gothic" panose="020B0503020000020004" pitchFamily="34" charset="-127"/>
            </a:endParaRP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Withdrawal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Updating the channel flow</a:t>
            </a:r>
          </a:p>
        </p:txBody>
      </p:sp>
      <p:sp>
        <p:nvSpPr>
          <p:cNvPr id="5" name="TextBox 4">
            <a:extLst>
              <a:ext uri="{FF2B5EF4-FFF2-40B4-BE49-F238E27FC236}">
                <a16:creationId xmlns:a16="http://schemas.microsoft.com/office/drawing/2014/main" id="{3015A207-CB44-ACFC-166C-0A39A7508913}"/>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4 – Irrigation from Channel</a:t>
            </a:r>
            <a:endParaRPr lang="en-US"/>
          </a:p>
        </p:txBody>
      </p:sp>
      <p:cxnSp>
        <p:nvCxnSpPr>
          <p:cNvPr id="7" name="Straight Connector 6">
            <a:extLst>
              <a:ext uri="{FF2B5EF4-FFF2-40B4-BE49-F238E27FC236}">
                <a16:creationId xmlns:a16="http://schemas.microsoft.com/office/drawing/2014/main" id="{EF33574C-5870-A236-9FDC-F8ECCBC08A1D}"/>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FC3E6233-67A6-C424-8AF4-82187ACB7F9A}"/>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3B3163D5-AAC7-70F4-5E26-E3379919011A}"/>
              </a:ext>
            </a:extLst>
          </p:cNvPr>
          <p:cNvSpPr txBox="1"/>
          <p:nvPr/>
        </p:nvSpPr>
        <p:spPr>
          <a:xfrm>
            <a:off x="416719" y="1898015"/>
            <a:ext cx="10401300" cy="292516"/>
          </a:xfrm>
          <a:prstGeom prst="rect">
            <a:avLst/>
          </a:prstGeom>
          <a:noFill/>
        </p:spPr>
        <p:txBody>
          <a:bodyPr wrap="square">
            <a:spAutoFit/>
          </a:bodyPr>
          <a:lstStyle/>
          <a:p>
            <a:pPr marL="0" marR="0">
              <a:lnSpc>
                <a:spcPct val="115000"/>
              </a:lnSpc>
              <a:spcAft>
                <a:spcPts val="800"/>
              </a:spcAft>
              <a:buNone/>
            </a:pPr>
            <a:r>
              <a:rPr lang="en-US" sz="1200" b="1" kern="100">
                <a:effectLst/>
                <a:latin typeface="Arial" panose="020B0604020202020204" pitchFamily="34" charset="0"/>
                <a:ea typeface="Arial" panose="020B0604020202020204" pitchFamily="34" charset="0"/>
                <a:cs typeface="Arial" panose="020B0604020202020204" pitchFamily="34" charset="0"/>
              </a:rPr>
              <a:t>Func. Water_Allocation (POD_ID, Water_Use_Code, Source_type, Source_ID, ..., Maximum Volume Allowed)</a:t>
            </a:r>
            <a:endParaRPr lang="en-US" kern="100">
              <a:effectLst/>
              <a:latin typeface="Aptos" panose="020B0004020202020204" pitchFamily="34" charset="0"/>
              <a:ea typeface="Malgun Gothic" panose="020B0503020000020004" pitchFamily="34" charset="-127"/>
              <a:cs typeface="Arial" panose="020B0604020202020204" pitchFamily="34" charset="0"/>
            </a:endParaRPr>
          </a:p>
        </p:txBody>
      </p:sp>
      <p:graphicFrame>
        <p:nvGraphicFramePr>
          <p:cNvPr id="8" name="Table 7">
            <a:extLst>
              <a:ext uri="{FF2B5EF4-FFF2-40B4-BE49-F238E27FC236}">
                <a16:creationId xmlns:a16="http://schemas.microsoft.com/office/drawing/2014/main" id="{C186A5F0-79E3-23AF-EB56-4D6FA262C160}"/>
              </a:ext>
            </a:extLst>
          </p:cNvPr>
          <p:cNvGraphicFramePr>
            <a:graphicFrameLocks noGrp="1"/>
          </p:cNvGraphicFramePr>
          <p:nvPr>
            <p:extLst>
              <p:ext uri="{D42A27DB-BD31-4B8C-83A1-F6EECF244321}">
                <p14:modId xmlns:p14="http://schemas.microsoft.com/office/powerpoint/2010/main" val="67706151"/>
              </p:ext>
            </p:extLst>
          </p:nvPr>
        </p:nvGraphicFramePr>
        <p:xfrm>
          <a:off x="416719" y="625282"/>
          <a:ext cx="11268291" cy="1081027"/>
        </p:xfrm>
        <a:graphic>
          <a:graphicData uri="http://schemas.openxmlformats.org/drawingml/2006/table">
            <a:tbl>
              <a:tblPr firstRow="1" firstCol="1" bandRow="1">
                <a:tableStyleId>{9D7B26C5-4107-4FEC-AEDC-1716B250A1EF}</a:tableStyleId>
              </a:tblPr>
              <a:tblGrid>
                <a:gridCol w="1403712">
                  <a:extLst>
                    <a:ext uri="{9D8B030D-6E8A-4147-A177-3AD203B41FA5}">
                      <a16:colId xmlns:a16="http://schemas.microsoft.com/office/drawing/2014/main" val="1058727986"/>
                    </a:ext>
                  </a:extLst>
                </a:gridCol>
                <a:gridCol w="1137503">
                  <a:extLst>
                    <a:ext uri="{9D8B030D-6E8A-4147-A177-3AD203B41FA5}">
                      <a16:colId xmlns:a16="http://schemas.microsoft.com/office/drawing/2014/main" val="1220378705"/>
                    </a:ext>
                  </a:extLst>
                </a:gridCol>
                <a:gridCol w="1230921">
                  <a:extLst>
                    <a:ext uri="{9D8B030D-6E8A-4147-A177-3AD203B41FA5}">
                      <a16:colId xmlns:a16="http://schemas.microsoft.com/office/drawing/2014/main" val="2192039817"/>
                    </a:ext>
                  </a:extLst>
                </a:gridCol>
                <a:gridCol w="1136129">
                  <a:extLst>
                    <a:ext uri="{9D8B030D-6E8A-4147-A177-3AD203B41FA5}">
                      <a16:colId xmlns:a16="http://schemas.microsoft.com/office/drawing/2014/main" val="4046327159"/>
                    </a:ext>
                  </a:extLst>
                </a:gridCol>
                <a:gridCol w="1382039">
                  <a:extLst>
                    <a:ext uri="{9D8B030D-6E8A-4147-A177-3AD203B41FA5}">
                      <a16:colId xmlns:a16="http://schemas.microsoft.com/office/drawing/2014/main" val="3683911116"/>
                    </a:ext>
                  </a:extLst>
                </a:gridCol>
                <a:gridCol w="1163606">
                  <a:extLst>
                    <a:ext uri="{9D8B030D-6E8A-4147-A177-3AD203B41FA5}">
                      <a16:colId xmlns:a16="http://schemas.microsoft.com/office/drawing/2014/main" val="2687951471"/>
                    </a:ext>
                  </a:extLst>
                </a:gridCol>
                <a:gridCol w="1123765">
                  <a:extLst>
                    <a:ext uri="{9D8B030D-6E8A-4147-A177-3AD203B41FA5}">
                      <a16:colId xmlns:a16="http://schemas.microsoft.com/office/drawing/2014/main" val="2248342749"/>
                    </a:ext>
                  </a:extLst>
                </a:gridCol>
                <a:gridCol w="1169101">
                  <a:extLst>
                    <a:ext uri="{9D8B030D-6E8A-4147-A177-3AD203B41FA5}">
                      <a16:colId xmlns:a16="http://schemas.microsoft.com/office/drawing/2014/main" val="1716385843"/>
                    </a:ext>
                  </a:extLst>
                </a:gridCol>
                <a:gridCol w="1521515">
                  <a:extLst>
                    <a:ext uri="{9D8B030D-6E8A-4147-A177-3AD203B41FA5}">
                      <a16:colId xmlns:a16="http://schemas.microsoft.com/office/drawing/2014/main" val="1987644138"/>
                    </a:ext>
                  </a:extLst>
                </a:gridCol>
              </a:tblGrid>
              <a:tr h="349322">
                <a:tc>
                  <a:txBody>
                    <a:bodyPr/>
                    <a:lstStyle/>
                    <a:p>
                      <a:pPr marL="0" marR="0" algn="ctr">
                        <a:lnSpc>
                          <a:spcPct val="115000"/>
                        </a:lnSpc>
                        <a:spcAft>
                          <a:spcPts val="800"/>
                        </a:spcAft>
                        <a:buNone/>
                      </a:pPr>
                      <a:r>
                        <a:rPr lang="en-US" sz="1100" kern="100">
                          <a:effectLst/>
                        </a:rPr>
                        <a:t>POD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Water Use Code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Type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Minimum Source Volume</a:t>
                      </a:r>
                      <a:endParaRPr lang="en-US" sz="1800" kern="100">
                        <a:effectLst/>
                      </a:endParaRPr>
                    </a:p>
                  </a:txBody>
                  <a:tcPr marL="68580" marR="68580" marT="0" marB="0" anchor="ctr"/>
                </a:tc>
                <a:tc>
                  <a:txBody>
                    <a:bodyPr/>
                    <a:lstStyle/>
                    <a:p>
                      <a:pPr marL="0" marR="0" algn="ctr">
                        <a:lnSpc>
                          <a:spcPct val="115000"/>
                        </a:lnSpc>
                        <a:spcAft>
                          <a:spcPts val="800"/>
                        </a:spcAft>
                        <a:buNone/>
                      </a:pPr>
                      <a:r>
                        <a:rPr lang="en-US" sz="1100" kern="100">
                          <a:effectLst/>
                        </a:rPr>
                        <a:t>Priority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Start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End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Maximum Volume Allowed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extLst>
                  <a:ext uri="{0D108BD9-81ED-4DB2-BD59-A6C34878D82A}">
                    <a16:rowId xmlns:a16="http://schemas.microsoft.com/office/drawing/2014/main" val="3378973156"/>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4</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14, 15</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1</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Cha1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436149"/>
                  </a:ext>
                </a:extLst>
              </a:tr>
              <a:tr h="371732">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Irrigation Duty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Irrigation Area</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Delay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Source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Rate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756887"/>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12415012"/>
                  </a:ext>
                </a:extLst>
              </a:tr>
            </a:tbl>
          </a:graphicData>
        </a:graphic>
      </p:graphicFrame>
      <p:cxnSp>
        <p:nvCxnSpPr>
          <p:cNvPr id="9" name="Straight Connector 8">
            <a:extLst>
              <a:ext uri="{FF2B5EF4-FFF2-40B4-BE49-F238E27FC236}">
                <a16:creationId xmlns:a16="http://schemas.microsoft.com/office/drawing/2014/main" id="{EABC9554-1D38-EAB8-9300-A584554E4E5E}"/>
              </a:ext>
            </a:extLst>
          </p:cNvPr>
          <p:cNvCxnSpPr>
            <a:cxnSpLocks/>
          </p:cNvCxnSpPr>
          <p:nvPr/>
        </p:nvCxnSpPr>
        <p:spPr>
          <a:xfrm>
            <a:off x="392169" y="3039514"/>
            <a:ext cx="11292840"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F2BC8EBD-59F6-2EC5-24BE-05492E3D7E6A}"/>
              </a:ext>
            </a:extLst>
          </p:cNvPr>
          <p:cNvCxnSpPr>
            <a:cxnSpLocks/>
          </p:cNvCxnSpPr>
          <p:nvPr/>
        </p:nvCxnSpPr>
        <p:spPr>
          <a:xfrm>
            <a:off x="2895600" y="3857394"/>
            <a:ext cx="6489700"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3AF47BE2-88A9-A58E-73A2-B19D3E468A87}"/>
              </a:ext>
            </a:extLst>
          </p:cNvPr>
          <p:cNvCxnSpPr>
            <a:cxnSpLocks/>
          </p:cNvCxnSpPr>
          <p:nvPr/>
        </p:nvCxnSpPr>
        <p:spPr>
          <a:xfrm>
            <a:off x="2396916" y="4128327"/>
            <a:ext cx="500380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BA4DAFB-2469-FEF0-4155-9D9FC94AE0BE}"/>
              </a:ext>
            </a:extLst>
          </p:cNvPr>
          <p:cNvCxnSpPr>
            <a:cxnSpLocks/>
          </p:cNvCxnSpPr>
          <p:nvPr/>
        </p:nvCxnSpPr>
        <p:spPr>
          <a:xfrm>
            <a:off x="5424674" y="4911647"/>
            <a:ext cx="246056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A576FC5-A597-1BB3-3DA9-BA8E854A338B}"/>
              </a:ext>
            </a:extLst>
          </p:cNvPr>
          <p:cNvCxnSpPr>
            <a:cxnSpLocks/>
          </p:cNvCxnSpPr>
          <p:nvPr/>
        </p:nvCxnSpPr>
        <p:spPr>
          <a:xfrm>
            <a:off x="4570541" y="5648093"/>
            <a:ext cx="5843459"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F289D1F-F51F-6826-CFCC-264087BDE08D}"/>
              </a:ext>
            </a:extLst>
          </p:cNvPr>
          <p:cNvCxnSpPr>
            <a:cxnSpLocks/>
          </p:cNvCxnSpPr>
          <p:nvPr/>
        </p:nvCxnSpPr>
        <p:spPr>
          <a:xfrm>
            <a:off x="6134100" y="6156093"/>
            <a:ext cx="3441700" cy="0"/>
          </a:xfrm>
          <a:prstGeom prst="line">
            <a:avLst/>
          </a:prstGeom>
          <a:ln>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11936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F01DE-4141-1C87-C412-D5CA1AF81DBC}"/>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D7CEF88F-6E3C-222A-3DEE-C30D0C92E985}"/>
              </a:ext>
            </a:extLst>
          </p:cNvPr>
          <p:cNvSpPr txBox="1"/>
          <p:nvPr/>
        </p:nvSpPr>
        <p:spPr>
          <a:xfrm>
            <a:off x="416719" y="2336072"/>
            <a:ext cx="11021594" cy="3962944"/>
          </a:xfrm>
          <a:prstGeom prst="rect">
            <a:avLst/>
          </a:prstGeom>
          <a:noFill/>
        </p:spPr>
        <p:txBody>
          <a:bodyPr wrap="square">
            <a:spAutoFit/>
          </a:bodyPr>
          <a:lstStyle/>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For Day in </a:t>
            </a:r>
            <a:r>
              <a:rPr lang="en-US" sz="1000" b="1" kern="100">
                <a:latin typeface="Arial" panose="020B0604020202020204" pitchFamily="34" charset="0"/>
                <a:ea typeface="Arial" panose="020B0604020202020204" pitchFamily="34" charset="0"/>
                <a:cs typeface="Arial" panose="020B0604020202020204" pitchFamily="34" charset="0"/>
              </a:rPr>
              <a:t>operation period</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ea typeface="Malgun Gothic" panose="020B0503020000020004" pitchFamily="34" charset="-127"/>
                <a:cs typeface="Arial" panose="020B0604020202020204" pitchFamily="34" charset="0"/>
              </a:rPr>
              <a:t> Cut_off ()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For current POD_ID</a:t>
            </a:r>
          </a:p>
          <a:p>
            <a:pPr defTabSz="182880">
              <a:lnSpc>
                <a:spcPct val="115000"/>
              </a:lnSpc>
              <a:spcAft>
                <a:spcPts val="800"/>
              </a:spcAft>
            </a:pPr>
            <a:r>
              <a:rPr lang="en-US" sz="1000" b="1" kern="100">
                <a:effectLst/>
                <a:latin typeface="Arial" panose="020B0604020202020204" pitchFamily="34" charset="0"/>
                <a:ea typeface="Arial" panose="020B0604020202020204" pitchFamily="34" charset="0"/>
                <a:cs typeface="Arial" panose="020B0604020202020204" pitchFamily="34" charset="0"/>
              </a:rPr>
              <a:t>		Maximum_Volume_Allowed(</a:t>
            </a:r>
            <a:r>
              <a:rPr lang="en-US" sz="1000" b="1" kern="100">
                <a:latin typeface="Arial" panose="020B0604020202020204" pitchFamily="34" charset="0"/>
                <a:cs typeface="Arial" panose="020B0604020202020204" pitchFamily="34" charset="0"/>
              </a:rPr>
              <a:t>current POD_ID, Day)</a:t>
            </a:r>
            <a:r>
              <a:rPr lang="en-US" sz="1000" b="1" kern="100">
                <a:effectLst/>
                <a:latin typeface="Arial" panose="020B0604020202020204" pitchFamily="34" charset="0"/>
                <a:ea typeface="Arial" panose="020B0604020202020204" pitchFamily="34" charset="0"/>
                <a:cs typeface="Arial" panose="020B0604020202020204" pitchFamily="34" charset="0"/>
              </a:rPr>
              <a:t> </a:t>
            </a:r>
            <a:r>
              <a:rPr lang="en-US" sz="1000" b="1" kern="100">
                <a:effectLst/>
                <a:latin typeface="Arial" panose="020B0604020202020204" pitchFamily="34" charset="0"/>
                <a:ea typeface="Malgun Gothic" panose="020B0503020000020004" pitchFamily="34" charset="-127"/>
                <a:cs typeface="Arial" panose="020B0604020202020204" pitchFamily="34" charset="0"/>
              </a:rPr>
              <a:t> = </a:t>
            </a:r>
            <a:r>
              <a:rPr lang="en-US" sz="1000" b="1" kern="100">
                <a:latin typeface="Arial" panose="020B0604020202020204" pitchFamily="34" charset="0"/>
                <a:ea typeface="Malgun Gothic" panose="020B0503020000020004" pitchFamily="34" charset="-127"/>
                <a:cs typeface="Arial" panose="020B0604020202020204" pitchFamily="34" charset="0"/>
              </a:rPr>
              <a:t>Updated_</a:t>
            </a:r>
            <a:r>
              <a:rPr lang="en-US" sz="1000" b="1" kern="100">
                <a:latin typeface="Arial" panose="020B0604020202020204" pitchFamily="34" charset="0"/>
                <a:ea typeface="Arial" panose="020B0604020202020204" pitchFamily="34" charset="0"/>
                <a:cs typeface="Arial" panose="020B0604020202020204" pitchFamily="34" charset="0"/>
              </a:rPr>
              <a:t> Maximum_Volume_Allowed (</a:t>
            </a:r>
            <a:r>
              <a:rPr lang="en-US" sz="1000" b="1" kern="100">
                <a:latin typeface="Arial" panose="020B0604020202020204" pitchFamily="34" charset="0"/>
                <a:cs typeface="Arial" panose="020B0604020202020204" pitchFamily="34" charset="0"/>
              </a:rPr>
              <a:t>current POD_ID</a:t>
            </a:r>
            <a:r>
              <a:rPr lang="en-US" sz="1000" b="1" kern="100">
                <a:latin typeface="Arial" panose="020B0604020202020204" pitchFamily="34" charset="0"/>
                <a:ea typeface="Arial" panose="020B0604020202020204" pitchFamily="34" charset="0"/>
                <a:cs typeface="Arial" panose="020B0604020202020204" pitchFamily="34" charset="0"/>
              </a:rPr>
              <a:t>)</a:t>
            </a:r>
            <a:endParaRPr lang="en-US" sz="1000" b="1" kern="100">
              <a:latin typeface="Arial" panose="020B0604020202020204" pitchFamily="34" charset="0"/>
              <a:ea typeface="Malgun Gothic" panose="020B0503020000020004" pitchFamily="34" charset="-127"/>
              <a:cs typeface="Arial" panose="020B0604020202020204" pitchFamily="34" charset="0"/>
            </a:endParaRPr>
          </a:p>
          <a:p>
            <a:pPr defTabSz="182880">
              <a:lnSpc>
                <a:spcPct val="115000"/>
              </a:lnSpc>
              <a:spcAft>
                <a:spcPts val="800"/>
              </a:spcAft>
            </a:pPr>
            <a:r>
              <a:rPr lang="en-US" sz="1000" b="1" kern="100">
                <a:latin typeface="Arial" panose="020B0604020202020204" pitchFamily="34" charset="0"/>
                <a:ea typeface="Malgun Gothic" panose="020B0503020000020004" pitchFamily="34" charset="-127"/>
                <a:cs typeface="Arial" panose="020B0604020202020204" pitchFamily="34" charset="0"/>
              </a:rPr>
              <a:t>		</a:t>
            </a:r>
            <a:r>
              <a:rPr lang="en-US" sz="1000" b="1" kern="100">
                <a:latin typeface="Arial" panose="020B0604020202020204" pitchFamily="34" charset="0"/>
                <a:cs typeface="Arial" panose="020B0604020202020204" pitchFamily="34" charset="0"/>
              </a:rPr>
              <a:t>If Water_Use_Code == 16  {																																							</a:t>
            </a:r>
            <a:r>
              <a:rPr lang="en-US" sz="1000" i="1" kern="100">
                <a:latin typeface="Arial" panose="020B0604020202020204" pitchFamily="34" charset="0"/>
                <a:ea typeface="Malgun Gothic" panose="020B0503020000020004" pitchFamily="34" charset="-127"/>
              </a:rPr>
              <a:t># Water Use Code for Domestic.</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Source_Type</a:t>
            </a:r>
            <a:r>
              <a:rPr lang="en-US" sz="1000" b="1" kern="100">
                <a:latin typeface="Arial" panose="020B0604020202020204" pitchFamily="34" charset="0"/>
                <a:cs typeface="Arial" panose="020B0604020202020204" pitchFamily="34" charset="0"/>
              </a:rPr>
              <a:t> == 1  {  																												</a:t>
            </a:r>
            <a:r>
              <a:rPr lang="en-US" sz="1000" i="1" kern="100">
                <a:latin typeface="Arial" panose="020B0604020202020204" pitchFamily="34" charset="0"/>
                <a:ea typeface="Malgun Gothic" panose="020B0503020000020004" pitchFamily="34" charset="-127"/>
              </a:rPr>
              <a:t># Source_ID is linked with the pre-defined Channel_ID or </a:t>
            </a:r>
            <a:r>
              <a:rPr lang="en-US" sz="1000" i="1" kern="100" err="1">
                <a:latin typeface="Arial" panose="020B0604020202020204" pitchFamily="34" charset="0"/>
                <a:ea typeface="Malgun Gothic" panose="020B0503020000020004" pitchFamily="34" charset="-127"/>
              </a:rPr>
              <a:t>Reach_ID</a:t>
            </a:r>
            <a:r>
              <a:rPr lang="en-US" sz="1000" i="1" kern="100">
                <a:latin typeface="Arial" panose="020B0604020202020204" pitchFamily="34" charset="0"/>
                <a:ea typeface="Malgun Gothic" panose="020B0503020000020004" pitchFamily="34" charset="-127"/>
              </a:rPr>
              <a:t>.</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Day &gt;=start_date and &lt;= end_date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If </a:t>
            </a:r>
            <a:r>
              <a:rPr lang="en-US" sz="1000" b="1" kern="100" err="1">
                <a:latin typeface="Arial" panose="020B0604020202020204" pitchFamily="34" charset="0"/>
                <a:cs typeface="Arial" panose="020B0604020202020204" pitchFamily="34" charset="0"/>
              </a:rPr>
              <a:t>SWAT_flowout</a:t>
            </a:r>
            <a:r>
              <a:rPr lang="en-US" sz="1000" b="1" kern="100">
                <a:latin typeface="Arial" panose="020B0604020202020204" pitchFamily="34" charset="0"/>
                <a:cs typeface="Arial" panose="020B0604020202020204" pitchFamily="34" charset="0"/>
              </a:rPr>
              <a:t> (Day, </a:t>
            </a:r>
            <a:r>
              <a:rPr lang="en-US" sz="1000" b="1" kern="100" err="1">
                <a:latin typeface="Arial" panose="020B0604020202020204" pitchFamily="34" charset="0"/>
                <a:cs typeface="Arial" panose="020B0604020202020204" pitchFamily="34" charset="0"/>
              </a:rPr>
              <a:t>source_id</a:t>
            </a:r>
            <a:r>
              <a:rPr lang="en-US" sz="1000" b="1" kern="100">
                <a:latin typeface="Arial" panose="020B0604020202020204" pitchFamily="34" charset="0"/>
                <a:cs typeface="Arial" panose="020B0604020202020204" pitchFamily="34" charset="0"/>
              </a:rPr>
              <a:t>) &gt;= Maximum_Volume_Allowed / (end_date - start_date)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Maximum_Volume_Allowed / (end_date - start_date)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Daily volume allowed for domestic use.</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0;</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Else </a:t>
            </a: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a:latin typeface="Arial" panose="020B0604020202020204" pitchFamily="34" charset="0"/>
                <a:cs typeface="Arial" panose="020B0604020202020204" pitchFamily="34" charset="0"/>
              </a:rPr>
              <a:t>Withdrawal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a:t>
            </a:r>
            <a:r>
              <a:rPr lang="en-US" sz="1000" b="1" kern="100">
                <a:latin typeface="Arial" panose="020B0604020202020204" pitchFamily="34" charset="0"/>
                <a:cs typeface="Arial" panose="020B0604020202020204" pitchFamily="34" charset="0"/>
              </a:rPr>
              <a:t>	 }}}}}																																		</a:t>
            </a:r>
            <a:r>
              <a:rPr lang="en-US" sz="1000" i="1" kern="100">
                <a:latin typeface="Arial" panose="020B0604020202020204" pitchFamily="34" charset="0"/>
                <a:ea typeface="Malgun Gothic" panose="020B0503020000020004" pitchFamily="34" charset="-127"/>
              </a:rPr>
              <a:t>#Total flow</a:t>
            </a:r>
          </a:p>
          <a:p>
            <a:pPr defTabSz="182880">
              <a:lnSpc>
                <a:spcPct val="115000"/>
              </a:lnSpc>
              <a:spcAft>
                <a:spcPts val="600"/>
              </a:spcAft>
            </a:pPr>
            <a:r>
              <a:rPr lang="en-US" sz="1000" i="1" kern="100">
                <a:latin typeface="Arial" panose="020B0604020202020204" pitchFamily="34" charset="0"/>
                <a:ea typeface="Malgun Gothic" panose="020B0503020000020004" pitchFamily="34" charset="-127"/>
              </a:rPr>
              <a:t>						Deficit = </a:t>
            </a:r>
            <a:r>
              <a:rPr lang="en-US" sz="1000" kern="100">
                <a:latin typeface="Arial" panose="020B0604020202020204" pitchFamily="34" charset="0"/>
                <a:cs typeface="Arial" panose="020B0604020202020204" pitchFamily="34" charset="0"/>
              </a:rPr>
              <a:t>Maximum_Volume_Allowed / (end_date - start_date) - Withdrawal</a:t>
            </a:r>
            <a:endParaRPr lang="en-US" sz="1000" i="1" kern="100">
              <a:latin typeface="Arial" panose="020B0604020202020204" pitchFamily="34" charset="0"/>
              <a:ea typeface="Malgun Gothic" panose="020B0503020000020004" pitchFamily="34" charset="-127"/>
            </a:endParaRPr>
          </a:p>
          <a:p>
            <a:pPr defTabSz="182880">
              <a:lnSpc>
                <a:spcPct val="115000"/>
              </a:lnSpc>
              <a:spcAft>
                <a:spcPts val="600"/>
              </a:spcAft>
            </a:pPr>
            <a:r>
              <a:rPr lang="en-US" sz="1000" b="1" kern="100">
                <a:latin typeface="Arial" panose="020B0604020202020204" pitchFamily="34" charset="0"/>
                <a:cs typeface="Arial" panose="020B0604020202020204" pitchFamily="34" charset="0"/>
              </a:rPr>
              <a:t>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a:t>
            </a:r>
            <a:r>
              <a:rPr lang="en-US" sz="1000" kern="100" err="1">
                <a:latin typeface="Arial" panose="020B0604020202020204" pitchFamily="34" charset="0"/>
                <a:cs typeface="Arial" panose="020B0604020202020204" pitchFamily="34" charset="0"/>
              </a:rPr>
              <a:t>SWAT_flowout</a:t>
            </a:r>
            <a:r>
              <a:rPr lang="en-US" sz="1000" kern="100">
                <a:latin typeface="Arial" panose="020B0604020202020204" pitchFamily="34" charset="0"/>
                <a:cs typeface="Arial" panose="020B0604020202020204" pitchFamily="34" charset="0"/>
              </a:rPr>
              <a:t> (Day, </a:t>
            </a:r>
            <a:r>
              <a:rPr lang="en-US" sz="1000" kern="100" err="1">
                <a:latin typeface="Arial" panose="020B0604020202020204" pitchFamily="34" charset="0"/>
                <a:cs typeface="Arial" panose="020B0604020202020204" pitchFamily="34" charset="0"/>
              </a:rPr>
              <a:t>source_id</a:t>
            </a:r>
            <a:r>
              <a:rPr lang="en-US" sz="1000" kern="100">
                <a:latin typeface="Arial" panose="020B0604020202020204" pitchFamily="34" charset="0"/>
                <a:cs typeface="Arial" panose="020B0604020202020204" pitchFamily="34" charset="0"/>
              </a:rPr>
              <a:t>) – Withdrawal		</a:t>
            </a:r>
            <a:r>
              <a:rPr lang="en-US" sz="1000" b="1" kern="100">
                <a:latin typeface="Arial" panose="020B0604020202020204" pitchFamily="34" charset="0"/>
                <a:cs typeface="Arial" panose="020B0604020202020204" pitchFamily="34" charset="0"/>
              </a:rPr>
              <a:t>																		</a:t>
            </a:r>
            <a:r>
              <a:rPr lang="en-US" sz="1000" i="1" kern="100">
                <a:latin typeface="Arial" panose="020B0604020202020204" pitchFamily="34" charset="0"/>
                <a:ea typeface="Malgun Gothic" panose="020B0503020000020004" pitchFamily="34" charset="-127"/>
              </a:rPr>
              <a:t># Updating the channel flow</a:t>
            </a:r>
          </a:p>
        </p:txBody>
      </p:sp>
      <p:sp>
        <p:nvSpPr>
          <p:cNvPr id="5" name="TextBox 4">
            <a:extLst>
              <a:ext uri="{FF2B5EF4-FFF2-40B4-BE49-F238E27FC236}">
                <a16:creationId xmlns:a16="http://schemas.microsoft.com/office/drawing/2014/main" id="{2304E435-D15C-FE72-B317-2D1AC692162D}"/>
              </a:ext>
            </a:extLst>
          </p:cNvPr>
          <p:cNvSpPr txBox="1"/>
          <p:nvPr/>
        </p:nvSpPr>
        <p:spPr>
          <a:xfrm>
            <a:off x="121920" y="97274"/>
            <a:ext cx="6096000" cy="369332"/>
          </a:xfrm>
          <a:prstGeom prst="rect">
            <a:avLst/>
          </a:prstGeom>
          <a:noFill/>
        </p:spPr>
        <p:txBody>
          <a:bodyPr wrap="square">
            <a:spAutoFit/>
          </a:bodyPr>
          <a:lstStyle/>
          <a:p>
            <a:r>
              <a:rPr lang="en-US" sz="1800" b="1">
                <a:effectLst/>
                <a:latin typeface="Arial" panose="020B0604020202020204" pitchFamily="34" charset="0"/>
                <a:ea typeface="Arial" panose="020B0604020202020204" pitchFamily="34" charset="0"/>
              </a:rPr>
              <a:t>Implement 5 – Livestock from Channel</a:t>
            </a:r>
            <a:endParaRPr lang="en-US"/>
          </a:p>
        </p:txBody>
      </p:sp>
      <p:cxnSp>
        <p:nvCxnSpPr>
          <p:cNvPr id="7" name="Straight Connector 6">
            <a:extLst>
              <a:ext uri="{FF2B5EF4-FFF2-40B4-BE49-F238E27FC236}">
                <a16:creationId xmlns:a16="http://schemas.microsoft.com/office/drawing/2014/main" id="{58545743-E94F-6D90-9430-E9BFA4CFD3E1}"/>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EC1A1A1E-3C48-8D43-48CC-8079D3558B80}"/>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cxnSp>
        <p:nvCxnSpPr>
          <p:cNvPr id="4" name="Straight Connector 3">
            <a:extLst>
              <a:ext uri="{FF2B5EF4-FFF2-40B4-BE49-F238E27FC236}">
                <a16:creationId xmlns:a16="http://schemas.microsoft.com/office/drawing/2014/main" id="{202965C1-73B4-7E54-743E-F0D96B3AF97E}"/>
              </a:ext>
            </a:extLst>
          </p:cNvPr>
          <p:cNvCxnSpPr/>
          <p:nvPr/>
        </p:nvCxnSpPr>
        <p:spPr>
          <a:xfrm>
            <a:off x="121920" y="466606"/>
            <a:ext cx="11765280" cy="0"/>
          </a:xfrm>
          <a:prstGeom prst="line">
            <a:avLst/>
          </a:prstGeom>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4CC52138-2495-2581-C97E-749611931363}"/>
              </a:ext>
            </a:extLst>
          </p:cNvPr>
          <p:cNvSpPr txBox="1"/>
          <p:nvPr/>
        </p:nvSpPr>
        <p:spPr>
          <a:xfrm>
            <a:off x="416719" y="1898015"/>
            <a:ext cx="10401300" cy="292516"/>
          </a:xfrm>
          <a:prstGeom prst="rect">
            <a:avLst/>
          </a:prstGeom>
          <a:noFill/>
        </p:spPr>
        <p:txBody>
          <a:bodyPr wrap="square">
            <a:spAutoFit/>
          </a:bodyPr>
          <a:lstStyle/>
          <a:p>
            <a:pPr marL="0" marR="0">
              <a:lnSpc>
                <a:spcPct val="115000"/>
              </a:lnSpc>
              <a:spcAft>
                <a:spcPts val="800"/>
              </a:spcAft>
              <a:buNone/>
            </a:pPr>
            <a:r>
              <a:rPr lang="en-US" sz="1200" b="1" kern="100">
                <a:effectLst/>
                <a:latin typeface="Arial" panose="020B0604020202020204" pitchFamily="34" charset="0"/>
                <a:ea typeface="Arial" panose="020B0604020202020204" pitchFamily="34" charset="0"/>
                <a:cs typeface="Arial" panose="020B0604020202020204" pitchFamily="34" charset="0"/>
              </a:rPr>
              <a:t>Func. Water_Allocation (POD_ID, Water_Use_Code, Source_type, Source_ID, ..., Maximum Volume Allowed)</a:t>
            </a:r>
            <a:endParaRPr lang="en-US" kern="100">
              <a:effectLst/>
              <a:latin typeface="Aptos" panose="020B0004020202020204" pitchFamily="34" charset="0"/>
              <a:ea typeface="Malgun Gothic" panose="020B0503020000020004" pitchFamily="34" charset="-127"/>
              <a:cs typeface="Arial" panose="020B0604020202020204" pitchFamily="34" charset="0"/>
            </a:endParaRPr>
          </a:p>
        </p:txBody>
      </p:sp>
      <p:graphicFrame>
        <p:nvGraphicFramePr>
          <p:cNvPr id="9" name="Table 8">
            <a:extLst>
              <a:ext uri="{FF2B5EF4-FFF2-40B4-BE49-F238E27FC236}">
                <a16:creationId xmlns:a16="http://schemas.microsoft.com/office/drawing/2014/main" id="{FAEC4A76-285F-B3BC-76FA-097DF29ABF28}"/>
              </a:ext>
            </a:extLst>
          </p:cNvPr>
          <p:cNvGraphicFramePr>
            <a:graphicFrameLocks noGrp="1"/>
          </p:cNvGraphicFramePr>
          <p:nvPr>
            <p:extLst>
              <p:ext uri="{D42A27DB-BD31-4B8C-83A1-F6EECF244321}">
                <p14:modId xmlns:p14="http://schemas.microsoft.com/office/powerpoint/2010/main" val="1366321429"/>
              </p:ext>
            </p:extLst>
          </p:nvPr>
        </p:nvGraphicFramePr>
        <p:xfrm>
          <a:off x="416719" y="625282"/>
          <a:ext cx="11268291" cy="1081027"/>
        </p:xfrm>
        <a:graphic>
          <a:graphicData uri="http://schemas.openxmlformats.org/drawingml/2006/table">
            <a:tbl>
              <a:tblPr firstRow="1" firstCol="1" bandRow="1">
                <a:tableStyleId>{9D7B26C5-4107-4FEC-AEDC-1716B250A1EF}</a:tableStyleId>
              </a:tblPr>
              <a:tblGrid>
                <a:gridCol w="1403712">
                  <a:extLst>
                    <a:ext uri="{9D8B030D-6E8A-4147-A177-3AD203B41FA5}">
                      <a16:colId xmlns:a16="http://schemas.microsoft.com/office/drawing/2014/main" val="1058727986"/>
                    </a:ext>
                  </a:extLst>
                </a:gridCol>
                <a:gridCol w="1137503">
                  <a:extLst>
                    <a:ext uri="{9D8B030D-6E8A-4147-A177-3AD203B41FA5}">
                      <a16:colId xmlns:a16="http://schemas.microsoft.com/office/drawing/2014/main" val="1220378705"/>
                    </a:ext>
                  </a:extLst>
                </a:gridCol>
                <a:gridCol w="1314808">
                  <a:extLst>
                    <a:ext uri="{9D8B030D-6E8A-4147-A177-3AD203B41FA5}">
                      <a16:colId xmlns:a16="http://schemas.microsoft.com/office/drawing/2014/main" val="2192039817"/>
                    </a:ext>
                  </a:extLst>
                </a:gridCol>
                <a:gridCol w="1052242">
                  <a:extLst>
                    <a:ext uri="{9D8B030D-6E8A-4147-A177-3AD203B41FA5}">
                      <a16:colId xmlns:a16="http://schemas.microsoft.com/office/drawing/2014/main" val="4046327159"/>
                    </a:ext>
                  </a:extLst>
                </a:gridCol>
                <a:gridCol w="1382039">
                  <a:extLst>
                    <a:ext uri="{9D8B030D-6E8A-4147-A177-3AD203B41FA5}">
                      <a16:colId xmlns:a16="http://schemas.microsoft.com/office/drawing/2014/main" val="3683911116"/>
                    </a:ext>
                  </a:extLst>
                </a:gridCol>
                <a:gridCol w="1163606">
                  <a:extLst>
                    <a:ext uri="{9D8B030D-6E8A-4147-A177-3AD203B41FA5}">
                      <a16:colId xmlns:a16="http://schemas.microsoft.com/office/drawing/2014/main" val="2687951471"/>
                    </a:ext>
                  </a:extLst>
                </a:gridCol>
                <a:gridCol w="1123765">
                  <a:extLst>
                    <a:ext uri="{9D8B030D-6E8A-4147-A177-3AD203B41FA5}">
                      <a16:colId xmlns:a16="http://schemas.microsoft.com/office/drawing/2014/main" val="2248342749"/>
                    </a:ext>
                  </a:extLst>
                </a:gridCol>
                <a:gridCol w="1169101">
                  <a:extLst>
                    <a:ext uri="{9D8B030D-6E8A-4147-A177-3AD203B41FA5}">
                      <a16:colId xmlns:a16="http://schemas.microsoft.com/office/drawing/2014/main" val="1716385843"/>
                    </a:ext>
                  </a:extLst>
                </a:gridCol>
                <a:gridCol w="1521515">
                  <a:extLst>
                    <a:ext uri="{9D8B030D-6E8A-4147-A177-3AD203B41FA5}">
                      <a16:colId xmlns:a16="http://schemas.microsoft.com/office/drawing/2014/main" val="1987644138"/>
                    </a:ext>
                  </a:extLst>
                </a:gridCol>
              </a:tblGrid>
              <a:tr h="349322">
                <a:tc>
                  <a:txBody>
                    <a:bodyPr/>
                    <a:lstStyle/>
                    <a:p>
                      <a:pPr marL="0" marR="0" algn="ctr">
                        <a:lnSpc>
                          <a:spcPct val="115000"/>
                        </a:lnSpc>
                        <a:spcAft>
                          <a:spcPts val="800"/>
                        </a:spcAft>
                        <a:buNone/>
                      </a:pPr>
                      <a:r>
                        <a:rPr lang="en-US" sz="1100" kern="100">
                          <a:effectLst/>
                        </a:rPr>
                        <a:t>POD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Water Use Code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Type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Source ID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Minimum Source Volume</a:t>
                      </a:r>
                      <a:endParaRPr lang="en-US" sz="1800" kern="100">
                        <a:effectLst/>
                      </a:endParaRPr>
                    </a:p>
                  </a:txBody>
                  <a:tcPr marL="68580" marR="68580" marT="0" marB="0" anchor="ctr"/>
                </a:tc>
                <a:tc>
                  <a:txBody>
                    <a:bodyPr/>
                    <a:lstStyle/>
                    <a:p>
                      <a:pPr marL="0" marR="0" algn="ctr">
                        <a:lnSpc>
                          <a:spcPct val="115000"/>
                        </a:lnSpc>
                        <a:spcAft>
                          <a:spcPts val="800"/>
                        </a:spcAft>
                        <a:buNone/>
                      </a:pPr>
                      <a:r>
                        <a:rPr lang="en-US" sz="1100" kern="100">
                          <a:effectLst/>
                        </a:rPr>
                        <a:t>Priority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Start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End Date</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tc>
                  <a:txBody>
                    <a:bodyPr/>
                    <a:lstStyle/>
                    <a:p>
                      <a:pPr marL="0" marR="0" algn="ctr">
                        <a:lnSpc>
                          <a:spcPct val="115000"/>
                        </a:lnSpc>
                        <a:spcAft>
                          <a:spcPts val="800"/>
                        </a:spcAft>
                        <a:buNone/>
                      </a:pPr>
                      <a:r>
                        <a:rPr lang="en-US" sz="1100" kern="100">
                          <a:effectLst/>
                        </a:rPr>
                        <a:t>Maximum Volume Allowed</a:t>
                      </a:r>
                      <a:endParaRPr lang="en-US" sz="1800" kern="100">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tc>
                <a:extLst>
                  <a:ext uri="{0D108BD9-81ED-4DB2-BD59-A6C34878D82A}">
                    <a16:rowId xmlns:a16="http://schemas.microsoft.com/office/drawing/2014/main" val="3378973156"/>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5</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16</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1</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Cha1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436149"/>
                  </a:ext>
                </a:extLst>
              </a:tr>
              <a:tr h="371732">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Livestock Duty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Livestock Type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1100" b="1" kern="100">
                          <a:solidFill>
                            <a:schemeClr val="tx1"/>
                          </a:solidFill>
                          <a:effectLst/>
                          <a:latin typeface="+mn-lt"/>
                          <a:ea typeface="+mn-ea"/>
                          <a:cs typeface="+mn-cs"/>
                        </a:rPr>
                        <a:t>Livestock  number</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 </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Delay</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Source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latinLnBrk="0" hangingPunct="1">
                        <a:lnSpc>
                          <a:spcPct val="115000"/>
                        </a:lnSpc>
                        <a:spcAft>
                          <a:spcPts val="800"/>
                        </a:spcAft>
                        <a:buNone/>
                      </a:pPr>
                      <a:r>
                        <a:rPr lang="en-US" sz="1100" b="1" kern="100">
                          <a:solidFill>
                            <a:schemeClr val="tx1"/>
                          </a:solidFill>
                          <a:effectLst/>
                          <a:latin typeface="+mn-lt"/>
                          <a:ea typeface="+mn-ea"/>
                          <a:cs typeface="+mn-cs"/>
                        </a:rPr>
                        <a:t>Return Rate</a:t>
                      </a: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6756887"/>
                  </a:ext>
                </a:extLst>
              </a:tr>
              <a:tr h="163015">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r>
                        <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rPr>
                        <a:t> </a:t>
                      </a: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defTabSz="914400" rtl="0" eaLnBrk="1" latinLnBrk="0" hangingPunct="1">
                        <a:lnSpc>
                          <a:spcPct val="115000"/>
                        </a:lnSpc>
                        <a:spcAft>
                          <a:spcPts val="800"/>
                        </a:spcAft>
                        <a:buNone/>
                      </a:pPr>
                      <a:endParaRPr lang="en-US" sz="1000" b="1" kern="100">
                        <a:solidFill>
                          <a:schemeClr val="tx1"/>
                        </a:solidFill>
                        <a:effectLst/>
                        <a:latin typeface="Aptos" panose="020B0004020202020204" pitchFamily="34" charset="0"/>
                        <a:ea typeface="Malgun Gothic" panose="020B0503020000020004" pitchFamily="34" charset="-127"/>
                        <a:cs typeface="Arial" panose="020B0604020202020204" pitchFamily="34"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12415012"/>
                  </a:ext>
                </a:extLst>
              </a:tr>
            </a:tbl>
          </a:graphicData>
        </a:graphic>
      </p:graphicFrame>
      <p:cxnSp>
        <p:nvCxnSpPr>
          <p:cNvPr id="10" name="Straight Connector 9">
            <a:extLst>
              <a:ext uri="{FF2B5EF4-FFF2-40B4-BE49-F238E27FC236}">
                <a16:creationId xmlns:a16="http://schemas.microsoft.com/office/drawing/2014/main" id="{1CAE3585-88F9-CA3F-32BE-685179F928CA}"/>
              </a:ext>
            </a:extLst>
          </p:cNvPr>
          <p:cNvCxnSpPr>
            <a:cxnSpLocks/>
          </p:cNvCxnSpPr>
          <p:nvPr/>
        </p:nvCxnSpPr>
        <p:spPr>
          <a:xfrm>
            <a:off x="392169" y="3039514"/>
            <a:ext cx="11292840"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A7A0974A-63CB-51AE-9D64-11094EBA95CD}"/>
              </a:ext>
            </a:extLst>
          </p:cNvPr>
          <p:cNvCxnSpPr>
            <a:cxnSpLocks/>
          </p:cNvCxnSpPr>
          <p:nvPr/>
        </p:nvCxnSpPr>
        <p:spPr>
          <a:xfrm>
            <a:off x="2557783" y="3857394"/>
            <a:ext cx="681481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7B2A422-C6DB-C586-37DD-3EC85BB24BC1}"/>
              </a:ext>
            </a:extLst>
          </p:cNvPr>
          <p:cNvCxnSpPr>
            <a:cxnSpLocks/>
          </p:cNvCxnSpPr>
          <p:nvPr/>
        </p:nvCxnSpPr>
        <p:spPr>
          <a:xfrm>
            <a:off x="2396916" y="4128327"/>
            <a:ext cx="5003801"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B05DC8-63A1-B585-2169-1FAEBDCBCB1F}"/>
              </a:ext>
            </a:extLst>
          </p:cNvPr>
          <p:cNvCxnSpPr>
            <a:cxnSpLocks/>
          </p:cNvCxnSpPr>
          <p:nvPr/>
        </p:nvCxnSpPr>
        <p:spPr>
          <a:xfrm>
            <a:off x="5411974" y="4911647"/>
            <a:ext cx="2460567"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74F1DE6-39E1-94EF-47A4-6CFDAFE748D3}"/>
              </a:ext>
            </a:extLst>
          </p:cNvPr>
          <p:cNvCxnSpPr>
            <a:cxnSpLocks/>
          </p:cNvCxnSpPr>
          <p:nvPr/>
        </p:nvCxnSpPr>
        <p:spPr>
          <a:xfrm>
            <a:off x="4545141" y="5660793"/>
            <a:ext cx="5919659" cy="0"/>
          </a:xfrm>
          <a:prstGeom prst="line">
            <a:avLst/>
          </a:prstGeom>
          <a:ln>
            <a:prstDash val="sysDot"/>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B71CAED-0B68-057A-4A12-CA49FA2272CF}"/>
              </a:ext>
            </a:extLst>
          </p:cNvPr>
          <p:cNvCxnSpPr>
            <a:cxnSpLocks/>
          </p:cNvCxnSpPr>
          <p:nvPr/>
        </p:nvCxnSpPr>
        <p:spPr>
          <a:xfrm>
            <a:off x="6121400" y="6168793"/>
            <a:ext cx="3479800" cy="0"/>
          </a:xfrm>
          <a:prstGeom prst="line">
            <a:avLst/>
          </a:prstGeom>
          <a:ln>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0407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38b62d8-3e80-4a8d-8b4c-bc2f809c8a3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7E91646C5D95442A45C4464443CE32D" ma:contentTypeVersion="11" ma:contentTypeDescription="Create a new document." ma:contentTypeScope="" ma:versionID="b476ec4797d5971c6bc56179bebe6593">
  <xsd:schema xmlns:xsd="http://www.w3.org/2001/XMLSchema" xmlns:xs="http://www.w3.org/2001/XMLSchema" xmlns:p="http://schemas.microsoft.com/office/2006/metadata/properties" xmlns:ns3="338b62d8-3e80-4a8d-8b4c-bc2f809c8a3c" targetNamespace="http://schemas.microsoft.com/office/2006/metadata/properties" ma:root="true" ma:fieldsID="1ff25f2ff70ba8124120f4c293a74206" ns3:_="">
    <xsd:import namespace="338b62d8-3e80-4a8d-8b4c-bc2f809c8a3c"/>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8b62d8-3e80-4a8d-8b4c-bc2f809c8a3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0B459B-51F3-4124-B88D-C983DAC970F8}">
  <ds:schemaRefs>
    <ds:schemaRef ds:uri="338b62d8-3e80-4a8d-8b4c-bc2f809c8a3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73485D5-D6C7-4F4E-9B21-8B10C0273F72}">
  <ds:schemaRefs>
    <ds:schemaRef ds:uri="338b62d8-3e80-4a8d-8b4c-bc2f809c8a3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18ADE04-0A08-4EE9-87E6-9ED96DD14E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4</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Water right modeling in SWAT+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 Inkyung</dc:creator>
  <cp:revision>4</cp:revision>
  <dcterms:created xsi:type="dcterms:W3CDTF">2026-02-25T01:58:51Z</dcterms:created>
  <dcterms:modified xsi:type="dcterms:W3CDTF">2026-02-27T22:21:12Z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0x010100D7E91646C5D95442A45C4464443CE32D</vt:lpwstr>
  </property>
</Properties>
</file>